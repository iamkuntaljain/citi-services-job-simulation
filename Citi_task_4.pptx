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1222" r:id="rId2"/>
    <p:sldId id="1228" r:id="rId3"/>
    <p:sldId id="1227" r:id="rId4"/>
    <p:sldId id="1234" r:id="rId5"/>
    <p:sldId id="1236" r:id="rId6"/>
  </p:sldIdLst>
  <p:sldSz cx="12192000" cy="6858000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48" userDrawn="1">
          <p15:clr>
            <a:srgbClr val="A4A3A4"/>
          </p15:clr>
        </p15:guide>
        <p15:guide id="2" orient="horz" pos="4198" userDrawn="1">
          <p15:clr>
            <a:srgbClr val="A4A3A4"/>
          </p15:clr>
        </p15:guide>
        <p15:guide id="3" orient="horz" pos="2183" userDrawn="1">
          <p15:clr>
            <a:srgbClr val="A4A3A4"/>
          </p15:clr>
        </p15:guide>
        <p15:guide id="4" orient="horz" pos="3668" userDrawn="1">
          <p15:clr>
            <a:srgbClr val="A4A3A4"/>
          </p15:clr>
        </p15:guide>
        <p15:guide id="5" orient="horz" pos="527" userDrawn="1">
          <p15:clr>
            <a:srgbClr val="A4A3A4"/>
          </p15:clr>
        </p15:guide>
        <p15:guide id="6" pos="7483" userDrawn="1">
          <p15:clr>
            <a:srgbClr val="A4A3A4"/>
          </p15:clr>
        </p15:guide>
        <p15:guide id="7" pos="180" userDrawn="1">
          <p15:clr>
            <a:srgbClr val="A4A3A4"/>
          </p15:clr>
        </p15:guide>
        <p15:guide id="8" pos="2819" userDrawn="1">
          <p15:clr>
            <a:srgbClr val="A4A3A4"/>
          </p15:clr>
        </p15:guide>
        <p15:guide id="9" pos="1935" userDrawn="1">
          <p15:clr>
            <a:srgbClr val="A4A3A4"/>
          </p15:clr>
        </p15:guide>
        <p15:guide id="10" orient="horz" pos="1003" userDrawn="1">
          <p15:clr>
            <a:srgbClr val="A4A3A4"/>
          </p15:clr>
        </p15:guide>
        <p15:guide id="11" orient="horz" pos="3770" userDrawn="1">
          <p15:clr>
            <a:srgbClr val="A4A3A4"/>
          </p15:clr>
        </p15:guide>
        <p15:guide id="12" orient="horz" pos="3374" userDrawn="1">
          <p15:clr>
            <a:srgbClr val="A4A3A4"/>
          </p15:clr>
        </p15:guide>
        <p15:guide id="13" orient="horz" pos="132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7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D72"/>
    <a:srgbClr val="DA0011"/>
    <a:srgbClr val="E56266"/>
    <a:srgbClr val="890707"/>
    <a:srgbClr val="A3A3A3"/>
    <a:srgbClr val="73B2CB"/>
    <a:srgbClr val="656565"/>
    <a:srgbClr val="858B39"/>
    <a:srgbClr val="18668D"/>
    <a:srgbClr val="9F92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840" autoAdjust="0"/>
    <p:restoredTop sz="95890" autoAdjust="0"/>
  </p:normalViewPr>
  <p:slideViewPr>
    <p:cSldViewPr snapToGrid="0" showGuides="1">
      <p:cViewPr varScale="1">
        <p:scale>
          <a:sx n="85" d="100"/>
          <a:sy n="85" d="100"/>
        </p:scale>
        <p:origin x="922" y="62"/>
      </p:cViewPr>
      <p:guideLst>
        <p:guide orient="horz" pos="3748"/>
        <p:guide orient="horz" pos="4198"/>
        <p:guide orient="horz" pos="2183"/>
        <p:guide orient="horz" pos="3668"/>
        <p:guide orient="horz" pos="527"/>
        <p:guide pos="7483"/>
        <p:guide pos="180"/>
        <p:guide pos="2819"/>
        <p:guide pos="1935"/>
        <p:guide orient="horz" pos="1003"/>
        <p:guide orient="horz" pos="3770"/>
        <p:guide orient="horz" pos="3374"/>
        <p:guide orient="horz" pos="132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75" d="100"/>
          <a:sy n="75" d="100"/>
        </p:scale>
        <p:origin x="3954" y="84"/>
      </p:cViewPr>
      <p:guideLst>
        <p:guide orient="horz" pos="3224"/>
        <p:guide pos="223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Total spend</a:t>
            </a:r>
            <a:r>
              <a:rPr lang="en-GB" baseline="0"/>
              <a:t> </a:t>
            </a:r>
            <a:r>
              <a:rPr lang="en-GB"/>
              <a:t>split by payment mode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'[Task_3-Model Solution_.xlsx]O. Transactions Summary'!$B$41</c:f>
              <c:strCache>
                <c:ptCount val="1"/>
                <c:pt idx="0">
                  <c:v>Payment mode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C2E-4BF6-BE9D-50A6B280292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C2E-4BF6-BE9D-50A6B2802920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C2E-4BF6-BE9D-50A6B280292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'[Task_3-Model Solution_.xlsx]O. Transactions Summary'!$B$42:$B$44</c:f>
              <c:strCache>
                <c:ptCount val="3"/>
                <c:pt idx="0">
                  <c:v>Online</c:v>
                </c:pt>
                <c:pt idx="1">
                  <c:v>Cash</c:v>
                </c:pt>
                <c:pt idx="2">
                  <c:v>Bank Transfer</c:v>
                </c:pt>
              </c:strCache>
            </c:strRef>
          </c:cat>
          <c:val>
            <c:numRef>
              <c:f>'[Task_3-Model Solution_.xlsx]O. Transactions Summary'!$D$42:$D$44</c:f>
              <c:numCache>
                <c:formatCode>_-* #,##0_-;\-* #,##0_-;_-* "-"??_-;_-@_-</c:formatCode>
                <c:ptCount val="3"/>
                <c:pt idx="0">
                  <c:v>40697439</c:v>
                </c:pt>
                <c:pt idx="1">
                  <c:v>63069448</c:v>
                </c:pt>
                <c:pt idx="2">
                  <c:v>20383444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62-894A-8F52-789E8AD1D6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sz="1400" b="0" i="0" baseline="0">
                <a:effectLst/>
              </a:rPr>
              <a:t>Total spend split by region</a:t>
            </a:r>
            <a:endParaRPr lang="en-GB" sz="1100"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'[Task_3-Model Solution_.xlsx]O. Transactions Summary'!$B$22</c:f>
              <c:strCache>
                <c:ptCount val="1"/>
                <c:pt idx="0">
                  <c:v>Region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571-4096-B875-96E36119080B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571-4096-B875-96E36119080B}"/>
              </c:ext>
            </c:extLst>
          </c:dPt>
          <c:dLbls>
            <c:delete val="1"/>
          </c:dLbls>
          <c:cat>
            <c:strRef>
              <c:f>'[Task_3-Model Solution_.xlsx]O. Transactions Summary'!$B$23:$B$24</c:f>
              <c:strCache>
                <c:ptCount val="2"/>
                <c:pt idx="0">
                  <c:v>Local</c:v>
                </c:pt>
                <c:pt idx="1">
                  <c:v>Overseas</c:v>
                </c:pt>
              </c:strCache>
            </c:strRef>
          </c:cat>
          <c:val>
            <c:numRef>
              <c:f>'[Task_3-Model Solution_.xlsx]O. Transactions Summary'!$D$23:$D$24</c:f>
              <c:numCache>
                <c:formatCode>_-* #,##0_-;\-* #,##0_-;_-* "-"??_-;_-@_-</c:formatCode>
                <c:ptCount val="2"/>
                <c:pt idx="0">
                  <c:v>92939649</c:v>
                </c:pt>
                <c:pt idx="1">
                  <c:v>31210682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5F8-5440-A8B5-A0207B414796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20139407"/>
        <c:axId val="430662159"/>
      </c:barChart>
      <c:catAx>
        <c:axId val="42013940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Region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662159"/>
        <c:crosses val="autoZero"/>
        <c:auto val="1"/>
        <c:lblAlgn val="ctr"/>
        <c:lblOffset val="100"/>
        <c:noMultiLvlLbl val="0"/>
      </c:catAx>
      <c:valAx>
        <c:axId val="430662159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Total</a:t>
                </a:r>
                <a:r>
                  <a:rPr lang="en-GB" baseline="0"/>
                  <a:t> spend ($)</a:t>
                </a:r>
                <a:endParaRPr lang="en-GB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GB"/>
            </a:p>
          </c:txPr>
        </c:title>
        <c:numFmt formatCode="_-* #,##0_-;\-* #,##0_-;_-* &quot;-&quot;??_-;_-@_-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2013940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b="1"/>
              <a:t>Solo</a:t>
            </a:r>
            <a:r>
              <a:rPr lang="en-GB" b="1" baseline="0"/>
              <a:t> Card vs. the Industry</a:t>
            </a:r>
            <a:br>
              <a:rPr lang="en-GB" baseline="0"/>
            </a:br>
            <a:r>
              <a:rPr lang="en-GB" baseline="0"/>
              <a:t>Annual and transaction charges</a:t>
            </a:r>
            <a:endParaRPr lang="en-GB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/>
        </a:p>
      </c:txPr>
    </c:title>
    <c:autoTitleDeleted val="0"/>
    <c:plotArea>
      <c:layout>
        <c:manualLayout>
          <c:layoutTarget val="inner"/>
          <c:xMode val="edge"/>
          <c:yMode val="edge"/>
          <c:x val="0.12666518566056986"/>
          <c:y val="0.10270680777133927"/>
          <c:w val="0.76547857066456038"/>
          <c:h val="0.5531508269868791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'[Task_3-Model Solution_.xlsx]I. Industry Data'!$B$2</c:f>
              <c:strCache>
                <c:ptCount val="1"/>
                <c:pt idx="0">
                  <c:v>Annual Fees 
($)</c:v>
                </c:pt>
              </c:strCache>
            </c:strRef>
          </c:tx>
          <c:spPr>
            <a:solidFill>
              <a:schemeClr val="accent1"/>
            </a:solidFill>
            <a:ln w="25400">
              <a:noFill/>
            </a:ln>
            <a:effectLst/>
          </c:spPr>
          <c:invertIfNegative val="0"/>
          <c:cat>
            <c:strRef>
              <c:f>'[Task_3-Model Solution_.xlsx]I. Industry Data'!$A$3:$A$5</c:f>
              <c:strCache>
                <c:ptCount val="3"/>
                <c:pt idx="0">
                  <c:v>Solo Card</c:v>
                </c:pt>
                <c:pt idx="1">
                  <c:v>A</c:v>
                </c:pt>
                <c:pt idx="2">
                  <c:v>B</c:v>
                </c:pt>
              </c:strCache>
            </c:strRef>
          </c:cat>
          <c:val>
            <c:numRef>
              <c:f>'[Task_3-Model Solution_.xlsx]I. Industry Data'!$B$3:$B$5</c:f>
              <c:numCache>
                <c:formatCode>_-* #,##0_-;\-* #,##0_-;_-* "-"??_-;_-@_-</c:formatCode>
                <c:ptCount val="3"/>
                <c:pt idx="0">
                  <c:v>1200</c:v>
                </c:pt>
                <c:pt idx="1">
                  <c:v>1800</c:v>
                </c:pt>
                <c:pt idx="2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BD-2543-BD0B-43EDB259A9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517576784"/>
        <c:axId val="1949717600"/>
      </c:barChart>
      <c:scatterChart>
        <c:scatterStyle val="lineMarker"/>
        <c:varyColors val="0"/>
        <c:ser>
          <c:idx val="2"/>
          <c:order val="2"/>
          <c:tx>
            <c:strRef>
              <c:f>'[Task_3-Model Solution_.xlsx]I. Industry Data'!$D$2</c:f>
              <c:strCache>
                <c:ptCount val="1"/>
                <c:pt idx="0">
                  <c:v>D. Fixed fee per transaction ($)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6">
                  <a:lumMod val="75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  <a:effectLst/>
            </c:spPr>
          </c:marker>
          <c:xVal>
            <c:strRef>
              <c:f>'[Task_3-Model Solution_.xlsx]I. Industry Data'!$A$3:$A$5</c:f>
              <c:strCache>
                <c:ptCount val="3"/>
                <c:pt idx="0">
                  <c:v>Solo Card</c:v>
                </c:pt>
                <c:pt idx="1">
                  <c:v>A</c:v>
                </c:pt>
                <c:pt idx="2">
                  <c:v>B</c:v>
                </c:pt>
              </c:strCache>
            </c:strRef>
          </c:xVal>
          <c:yVal>
            <c:numRef>
              <c:f>'[Task_3-Model Solution_.xlsx]I. Industry Data'!$D$3:$D$5</c:f>
              <c:numCache>
                <c:formatCode>_-* #,##0.00_-;\-* #,##0.00_-;_-* "-"??_-;_-@_-</c:formatCode>
                <c:ptCount val="3"/>
                <c:pt idx="0">
                  <c:v>0.1</c:v>
                </c:pt>
                <c:pt idx="1">
                  <c:v>0.05</c:v>
                </c:pt>
                <c:pt idx="2">
                  <c:v>0.2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B3BD-2543-BD0B-43EDB259A999}"/>
            </c:ext>
          </c:extLst>
        </c:ser>
        <c:ser>
          <c:idx val="3"/>
          <c:order val="3"/>
          <c:tx>
            <c:strRef>
              <c:f>'[Task_3-Model Solution_.xlsx]I. Industry Data'!$E$2</c:f>
              <c:strCache>
                <c:ptCount val="1"/>
                <c:pt idx="0">
                  <c:v>D. Cash withdrawal fees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triang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  <a:round/>
              </a:ln>
              <a:effectLst/>
            </c:spPr>
          </c:marker>
          <c:xVal>
            <c:strRef>
              <c:f>'[Task_3-Model Solution_.xlsx]I. Industry Data'!$A$3:$A$5</c:f>
              <c:strCache>
                <c:ptCount val="3"/>
                <c:pt idx="0">
                  <c:v>Solo Card</c:v>
                </c:pt>
                <c:pt idx="1">
                  <c:v>A</c:v>
                </c:pt>
                <c:pt idx="2">
                  <c:v>B</c:v>
                </c:pt>
              </c:strCache>
            </c:strRef>
          </c:xVal>
          <c:yVal>
            <c:numRef>
              <c:f>'[Task_3-Model Solution_.xlsx]I. Industry Data'!$E$3:$E$5</c:f>
              <c:numCache>
                <c:formatCode>_-* #,##0.00_-;\-* #,##0.00_-;_-* "-"??_-;_-@_-</c:formatCode>
                <c:ptCount val="3"/>
                <c:pt idx="0">
                  <c:v>0</c:v>
                </c:pt>
                <c:pt idx="1">
                  <c:v>2.5</c:v>
                </c:pt>
                <c:pt idx="2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B3BD-2543-BD0B-43EDB259A999}"/>
            </c:ext>
          </c:extLst>
        </c:ser>
        <c:ser>
          <c:idx val="5"/>
          <c:order val="5"/>
          <c:tx>
            <c:strRef>
              <c:f>'[Task_3-Model Solution_.xlsx]I. Industry Data'!$G$2</c:f>
              <c:strCache>
                <c:ptCount val="1"/>
                <c:pt idx="0">
                  <c:v>O. Fixed fee per transaction ($)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xVal>
            <c:strRef>
              <c:f>'[Task_3-Model Solution_.xlsx]I. Industry Data'!$A$3:$A$5</c:f>
              <c:strCache>
                <c:ptCount val="3"/>
                <c:pt idx="0">
                  <c:v>Solo Card</c:v>
                </c:pt>
                <c:pt idx="1">
                  <c:v>A</c:v>
                </c:pt>
                <c:pt idx="2">
                  <c:v>B</c:v>
                </c:pt>
              </c:strCache>
            </c:strRef>
          </c:xVal>
          <c:yVal>
            <c:numRef>
              <c:f>'[Task_3-Model Solution_.xlsx]I. Industry Data'!$G$3:$G$5</c:f>
              <c:numCache>
                <c:formatCode>_-* #,##0.00_-;\-* #,##0.00_-;_-* "-"??_-;_-@_-</c:formatCode>
                <c:ptCount val="3"/>
                <c:pt idx="0">
                  <c:v>5</c:v>
                </c:pt>
                <c:pt idx="1">
                  <c:v>2.5</c:v>
                </c:pt>
                <c:pt idx="2">
                  <c:v>10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B3BD-2543-BD0B-43EDB259A999}"/>
            </c:ext>
          </c:extLst>
        </c:ser>
        <c:ser>
          <c:idx val="6"/>
          <c:order val="6"/>
          <c:tx>
            <c:strRef>
              <c:f>'[Task_3-Model Solution_.xlsx]I. Industry Data'!$H$2</c:f>
              <c:strCache>
                <c:ptCount val="1"/>
                <c:pt idx="0">
                  <c:v>O. Cash withdrawal fees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60000"/>
                </a:schemeClr>
              </a:solidFill>
              <a:ln w="9525">
                <a:solidFill>
                  <a:schemeClr val="accent1">
                    <a:lumMod val="60000"/>
                  </a:schemeClr>
                </a:solidFill>
              </a:ln>
              <a:effectLst/>
            </c:spPr>
          </c:marker>
          <c:xVal>
            <c:strRef>
              <c:f>'[Task_3-Model Solution_.xlsx]I. Industry Data'!$A$3:$A$5</c:f>
              <c:strCache>
                <c:ptCount val="3"/>
                <c:pt idx="0">
                  <c:v>Solo Card</c:v>
                </c:pt>
                <c:pt idx="1">
                  <c:v>A</c:v>
                </c:pt>
                <c:pt idx="2">
                  <c:v>B</c:v>
                </c:pt>
              </c:strCache>
            </c:strRef>
          </c:xVal>
          <c:yVal>
            <c:numRef>
              <c:f>'[Task_3-Model Solution_.xlsx]I. Industry Data'!$H$3:$H$5</c:f>
              <c:numCache>
                <c:formatCode>_-* #,##0.00_-;\-* #,##0.00_-;_-* "-"??_-;_-@_-</c:formatCode>
                <c:ptCount val="3"/>
                <c:pt idx="0">
                  <c:v>0</c:v>
                </c:pt>
                <c:pt idx="1">
                  <c:v>7.5</c:v>
                </c:pt>
                <c:pt idx="2">
                  <c:v>15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B3BD-2543-BD0B-43EDB259A9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17576784"/>
        <c:axId val="1949717600"/>
      </c:scatterChart>
      <c:scatterChart>
        <c:scatterStyle val="lineMarker"/>
        <c:varyColors val="0"/>
        <c:ser>
          <c:idx val="1"/>
          <c:order val="1"/>
          <c:tx>
            <c:strRef>
              <c:f>'[Task_3-Model Solution_.xlsx]I. Industry Data'!$C$2</c:f>
              <c:strCache>
                <c:ptCount val="1"/>
                <c:pt idx="0">
                  <c:v>D. % of transaction value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strRef>
              <c:f>'[Task_3-Model Solution_.xlsx]I. Industry Data'!$A$3:$A$5</c:f>
              <c:strCache>
                <c:ptCount val="3"/>
                <c:pt idx="0">
                  <c:v>Solo Card</c:v>
                </c:pt>
                <c:pt idx="1">
                  <c:v>A</c:v>
                </c:pt>
                <c:pt idx="2">
                  <c:v>B</c:v>
                </c:pt>
              </c:strCache>
            </c:strRef>
          </c:xVal>
          <c:yVal>
            <c:numRef>
              <c:f>'[Task_3-Model Solution_.xlsx]I. Industry Data'!$C$3:$C$5</c:f>
              <c:numCache>
                <c:formatCode>0.0%</c:formatCode>
                <c:ptCount val="3"/>
                <c:pt idx="0">
                  <c:v>5.0000000000000001E-3</c:v>
                </c:pt>
                <c:pt idx="1">
                  <c:v>0.01</c:v>
                </c:pt>
                <c:pt idx="2">
                  <c:v>0.05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B3BD-2543-BD0B-43EDB259A999}"/>
            </c:ext>
          </c:extLst>
        </c:ser>
        <c:ser>
          <c:idx val="4"/>
          <c:order val="4"/>
          <c:tx>
            <c:strRef>
              <c:f>'[Task_3-Model Solution_.xlsx]I. Industry Data'!$F$2</c:f>
              <c:strCache>
                <c:ptCount val="1"/>
                <c:pt idx="0">
                  <c:v>O. % of transaction value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6">
                  <a:lumMod val="75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  <a:effectLst/>
            </c:spPr>
          </c:marker>
          <c:xVal>
            <c:strRef>
              <c:f>'[Task_3-Model Solution_.xlsx]I. Industry Data'!$A$3:$A$5</c:f>
              <c:strCache>
                <c:ptCount val="3"/>
                <c:pt idx="0">
                  <c:v>Solo Card</c:v>
                </c:pt>
                <c:pt idx="1">
                  <c:v>A</c:v>
                </c:pt>
                <c:pt idx="2">
                  <c:v>B</c:v>
                </c:pt>
              </c:strCache>
            </c:strRef>
          </c:xVal>
          <c:yVal>
            <c:numRef>
              <c:f>'[Task_3-Model Solution_.xlsx]I. Industry Data'!$F$3:$F$5</c:f>
              <c:numCache>
                <c:formatCode>0.0%</c:formatCode>
                <c:ptCount val="3"/>
                <c:pt idx="0">
                  <c:v>0.03</c:v>
                </c:pt>
                <c:pt idx="1">
                  <c:v>0.05</c:v>
                </c:pt>
                <c:pt idx="2">
                  <c:v>0.08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B3BD-2543-BD0B-43EDB259A9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63320048"/>
        <c:axId val="1963366208"/>
      </c:scatterChart>
      <c:catAx>
        <c:axId val="151757678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Commercial Cards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9717600"/>
        <c:crosses val="autoZero"/>
        <c:auto val="1"/>
        <c:lblAlgn val="ctr"/>
        <c:lblOffset val="100"/>
        <c:tickMarkSkip val="1"/>
        <c:noMultiLvlLbl val="0"/>
      </c:catAx>
      <c:valAx>
        <c:axId val="19497176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Annual Fees ($)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_-* #,##0_-;\-* #,##0_-;_-* &quot;-&quot;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7576784"/>
        <c:crosses val="autoZero"/>
        <c:crossBetween val="between"/>
      </c:valAx>
      <c:valAx>
        <c:axId val="1963366208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%</a:t>
                </a:r>
                <a:r>
                  <a:rPr lang="en-GB" baseline="0"/>
                  <a:t> Charges</a:t>
                </a:r>
                <a:endParaRPr lang="en-GB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GB"/>
            </a:p>
          </c:txPr>
        </c:title>
        <c:numFmt formatCode="0.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63320048"/>
        <c:crosses val="max"/>
        <c:crossBetween val="midCat"/>
      </c:valAx>
      <c:valAx>
        <c:axId val="196332004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96336620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12"/>
            <a:ext cx="3076364" cy="511485"/>
          </a:xfrm>
          <a:prstGeom prst="rect">
            <a:avLst/>
          </a:prstGeom>
        </p:spPr>
        <p:txBody>
          <a:bodyPr vert="horz" lIns="91323" tIns="45666" rIns="91323" bIns="45666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285" y="12"/>
            <a:ext cx="3076364" cy="511485"/>
          </a:xfrm>
          <a:prstGeom prst="rect">
            <a:avLst/>
          </a:prstGeom>
        </p:spPr>
        <p:txBody>
          <a:bodyPr vert="horz" lIns="91323" tIns="45666" rIns="91323" bIns="45666" rtlCol="0"/>
          <a:lstStyle>
            <a:lvl1pPr algn="r">
              <a:defRPr sz="1200"/>
            </a:lvl1pPr>
          </a:lstStyle>
          <a:p>
            <a:fld id="{FB3CDEB3-48A8-41CE-A19B-17EB5D1349C3}" type="datetimeFigureOut">
              <a:rPr lang="en-GB" smtClean="0"/>
              <a:t>14/03/2026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3" y="9721506"/>
            <a:ext cx="3076364" cy="511485"/>
          </a:xfrm>
          <a:prstGeom prst="rect">
            <a:avLst/>
          </a:prstGeom>
        </p:spPr>
        <p:txBody>
          <a:bodyPr vert="horz" lIns="91323" tIns="45666" rIns="91323" bIns="45666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285" y="9721506"/>
            <a:ext cx="3076364" cy="511485"/>
          </a:xfrm>
          <a:prstGeom prst="rect">
            <a:avLst/>
          </a:prstGeom>
        </p:spPr>
        <p:txBody>
          <a:bodyPr vert="horz" lIns="91323" tIns="45666" rIns="91323" bIns="45666" rtlCol="0" anchor="b"/>
          <a:lstStyle>
            <a:lvl1pPr algn="r">
              <a:defRPr sz="1200"/>
            </a:lvl1pPr>
          </a:lstStyle>
          <a:p>
            <a:fld id="{5D4041B7-2520-49D1-B87B-6BD2905A48B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30577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6" y="4"/>
            <a:ext cx="3076364" cy="511731"/>
          </a:xfrm>
          <a:prstGeom prst="rect">
            <a:avLst/>
          </a:prstGeom>
        </p:spPr>
        <p:txBody>
          <a:bodyPr vert="horz" lIns="96385" tIns="48191" rIns="96385" bIns="48191" rtlCol="0"/>
          <a:lstStyle>
            <a:lvl1pPr algn="l">
              <a:defRPr sz="13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305" y="4"/>
            <a:ext cx="3076364" cy="511731"/>
          </a:xfrm>
          <a:prstGeom prst="rect">
            <a:avLst/>
          </a:prstGeom>
        </p:spPr>
        <p:txBody>
          <a:bodyPr vert="horz" lIns="96385" tIns="48191" rIns="96385" bIns="48191" rtlCol="0"/>
          <a:lstStyle>
            <a:lvl1pPr algn="r">
              <a:defRPr sz="1300"/>
            </a:lvl1pPr>
          </a:lstStyle>
          <a:p>
            <a:fld id="{780701A6-ECA0-419F-B53B-F80675AFC4D8}" type="datetimeFigureOut">
              <a:rPr lang="en-GB" smtClean="0"/>
              <a:pPr/>
              <a:t>14/03/2026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8350"/>
            <a:ext cx="6823075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385" tIns="48191" rIns="96385" bIns="48191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1" y="4861443"/>
            <a:ext cx="5679440" cy="4605576"/>
          </a:xfrm>
          <a:prstGeom prst="rect">
            <a:avLst/>
          </a:prstGeom>
        </p:spPr>
        <p:txBody>
          <a:bodyPr vert="horz" lIns="96385" tIns="48191" rIns="96385" bIns="4819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6" y="9721112"/>
            <a:ext cx="3076364" cy="511731"/>
          </a:xfrm>
          <a:prstGeom prst="rect">
            <a:avLst/>
          </a:prstGeom>
        </p:spPr>
        <p:txBody>
          <a:bodyPr vert="horz" lIns="96385" tIns="48191" rIns="96385" bIns="48191" rtlCol="0" anchor="b"/>
          <a:lstStyle>
            <a:lvl1pPr algn="l">
              <a:defRPr sz="13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305" y="9721112"/>
            <a:ext cx="3076364" cy="511731"/>
          </a:xfrm>
          <a:prstGeom prst="rect">
            <a:avLst/>
          </a:prstGeom>
        </p:spPr>
        <p:txBody>
          <a:bodyPr vert="horz" lIns="96385" tIns="48191" rIns="96385" bIns="48191" rtlCol="0" anchor="b"/>
          <a:lstStyle>
            <a:lvl1pPr algn="r">
              <a:defRPr sz="1300"/>
            </a:lvl1pPr>
          </a:lstStyle>
          <a:p>
            <a:fld id="{B88799EA-8ACC-422C-926D-CFAF59BB907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52303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54450" y="9445625"/>
            <a:ext cx="2949575" cy="4968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4563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4563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4563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4563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4563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456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456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456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456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SzPct val="100000"/>
            </a:pPr>
            <a:fld id="{5BD0987B-402A-4156-A751-9C8439DDA60C}" type="slidenum">
              <a:rPr lang="en-GB" altLang="en-US" sz="1400" smtClean="0">
                <a:solidFill>
                  <a:srgbClr val="000000"/>
                </a:solidFill>
              </a:rPr>
              <a:pPr>
                <a:buSzPct val="100000"/>
              </a:pPr>
              <a:t>1</a:t>
            </a:fld>
            <a:endParaRPr lang="en-GB" altLang="en-US" sz="1400" dirty="0">
              <a:solidFill>
                <a:srgbClr val="000000"/>
              </a:solidFill>
            </a:endParaRPr>
          </a:p>
        </p:txBody>
      </p:sp>
      <p:sp>
        <p:nvSpPr>
          <p:cNvPr id="8195" name="Rectangle 7"/>
          <p:cNvSpPr txBox="1">
            <a:spLocks noGrp="1" noChangeArrowheads="1"/>
          </p:cNvSpPr>
          <p:nvPr/>
        </p:nvSpPr>
        <p:spPr bwMode="auto">
          <a:xfrm>
            <a:off x="3854450" y="9444038"/>
            <a:ext cx="2949575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954" tIns="45477" rIns="90954" bIns="45477" anchor="b"/>
          <a:lstStyle>
            <a:lvl1pPr defTabSz="892175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92175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92175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92175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92175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92175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92175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92175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92175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buSzPct val="100000"/>
            </a:pPr>
            <a:fld id="{4E6C3CCE-C80A-41F4-8786-DA08ED0AC1E0}" type="slidenum">
              <a:rPr lang="en-GB" altLang="en-US">
                <a:solidFill>
                  <a:srgbClr val="000000"/>
                </a:solidFill>
              </a:rPr>
              <a:pPr algn="r">
                <a:buSzPct val="100000"/>
              </a:pPr>
              <a:t>1</a:t>
            </a:fld>
            <a:endParaRPr lang="en-GB" altLang="en-US" dirty="0">
              <a:solidFill>
                <a:srgbClr val="000000"/>
              </a:solidFill>
            </a:endParaRPr>
          </a:p>
        </p:txBody>
      </p:sp>
      <p:sp>
        <p:nvSpPr>
          <p:cNvPr id="819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663" y="749300"/>
            <a:ext cx="6623050" cy="3725863"/>
          </a:xfrm>
          <a:ln/>
        </p:spPr>
      </p:sp>
      <p:sp>
        <p:nvSpPr>
          <p:cNvPr id="819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038" y="4722813"/>
            <a:ext cx="5445125" cy="44735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954" tIns="45477" rIns="90954" bIns="45477"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406411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BB91FE-CA53-4067-8F02-DDFD68ADDC96}" type="slidenum">
              <a:rPr lang="en-GB" smtClean="0"/>
              <a:pPr>
                <a:defRPr/>
              </a:pPr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77297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BB91FE-CA53-4067-8F02-DDFD68ADDC96}" type="slidenum">
              <a:rPr lang="en-GB" smtClean="0"/>
              <a:pPr>
                <a:defRPr/>
              </a:pPr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127741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BB91FE-CA53-4067-8F02-DDFD68ADDC96}" type="slidenum">
              <a:rPr lang="en-GB" smtClean="0"/>
              <a:pPr>
                <a:defRPr/>
              </a:pPr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067742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BB91FE-CA53-4067-8F02-DDFD68ADDC96}" type="slidenum">
              <a:rPr lang="en-GB" smtClean="0"/>
              <a:pPr>
                <a:defRPr/>
              </a:pPr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150801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/>
          <p:cNvGrpSpPr/>
          <p:nvPr/>
        </p:nvGrpSpPr>
        <p:grpSpPr>
          <a:xfrm>
            <a:off x="280446" y="687258"/>
            <a:ext cx="11587156" cy="586078"/>
            <a:chOff x="215900" y="1382939"/>
            <a:chExt cx="6998377" cy="430678"/>
          </a:xfrm>
        </p:grpSpPr>
        <p:sp>
          <p:nvSpPr>
            <p:cNvPr id="29" name="Pentagon 28"/>
            <p:cNvSpPr/>
            <p:nvPr userDrawn="1"/>
          </p:nvSpPr>
          <p:spPr>
            <a:xfrm>
              <a:off x="215900" y="1382940"/>
              <a:ext cx="585009" cy="430326"/>
            </a:xfrm>
            <a:prstGeom prst="homePlate">
              <a:avLst>
                <a:gd name="adj" fmla="val 33648"/>
              </a:avLst>
            </a:prstGeom>
            <a:solidFill>
              <a:srgbClr val="002D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5"/>
                </a:solidFill>
              </a:endParaRPr>
            </a:p>
          </p:txBody>
        </p:sp>
        <p:sp>
          <p:nvSpPr>
            <p:cNvPr id="30" name="Pentagon 6"/>
            <p:cNvSpPr/>
            <p:nvPr userDrawn="1"/>
          </p:nvSpPr>
          <p:spPr>
            <a:xfrm rot="10800000">
              <a:off x="774827" y="1382939"/>
              <a:ext cx="6439450" cy="430678"/>
            </a:xfrm>
            <a:custGeom>
              <a:avLst/>
              <a:gdLst>
                <a:gd name="connsiteX0" fmla="*/ 0 w 380595"/>
                <a:gd name="connsiteY0" fmla="*/ 0 h 299687"/>
                <a:gd name="connsiteX1" fmla="*/ 292178 w 380595"/>
                <a:gd name="connsiteY1" fmla="*/ 0 h 299687"/>
                <a:gd name="connsiteX2" fmla="*/ 380595 w 380595"/>
                <a:gd name="connsiteY2" fmla="*/ 149844 h 299687"/>
                <a:gd name="connsiteX3" fmla="*/ 292178 w 380595"/>
                <a:gd name="connsiteY3" fmla="*/ 299687 h 299687"/>
                <a:gd name="connsiteX4" fmla="*/ 0 w 380595"/>
                <a:gd name="connsiteY4" fmla="*/ 299687 h 299687"/>
                <a:gd name="connsiteX5" fmla="*/ 0 w 380595"/>
                <a:gd name="connsiteY5" fmla="*/ 0 h 299687"/>
                <a:gd name="connsiteX0" fmla="*/ 0 w 292178"/>
                <a:gd name="connsiteY0" fmla="*/ 0 h 299687"/>
                <a:gd name="connsiteX1" fmla="*/ 292178 w 292178"/>
                <a:gd name="connsiteY1" fmla="*/ 0 h 299687"/>
                <a:gd name="connsiteX2" fmla="*/ 173161 w 292178"/>
                <a:gd name="connsiteY2" fmla="*/ 132911 h 299687"/>
                <a:gd name="connsiteX3" fmla="*/ 292178 w 292178"/>
                <a:gd name="connsiteY3" fmla="*/ 299687 h 299687"/>
                <a:gd name="connsiteX4" fmla="*/ 0 w 292178"/>
                <a:gd name="connsiteY4" fmla="*/ 299687 h 299687"/>
                <a:gd name="connsiteX5" fmla="*/ 0 w 292178"/>
                <a:gd name="connsiteY5" fmla="*/ 0 h 299687"/>
                <a:gd name="connsiteX0" fmla="*/ 0 w 292178"/>
                <a:gd name="connsiteY0" fmla="*/ 0 h 299687"/>
                <a:gd name="connsiteX1" fmla="*/ 292178 w 292178"/>
                <a:gd name="connsiteY1" fmla="*/ 0 h 299687"/>
                <a:gd name="connsiteX2" fmla="*/ 101194 w 292178"/>
                <a:gd name="connsiteY2" fmla="*/ 132911 h 299687"/>
                <a:gd name="connsiteX3" fmla="*/ 292178 w 292178"/>
                <a:gd name="connsiteY3" fmla="*/ 299687 h 299687"/>
                <a:gd name="connsiteX4" fmla="*/ 0 w 292178"/>
                <a:gd name="connsiteY4" fmla="*/ 299687 h 299687"/>
                <a:gd name="connsiteX5" fmla="*/ 0 w 292178"/>
                <a:gd name="connsiteY5" fmla="*/ 0 h 299687"/>
                <a:gd name="connsiteX0" fmla="*/ 0 w 292178"/>
                <a:gd name="connsiteY0" fmla="*/ 0 h 299687"/>
                <a:gd name="connsiteX1" fmla="*/ 292178 w 292178"/>
                <a:gd name="connsiteY1" fmla="*/ 0 h 299687"/>
                <a:gd name="connsiteX2" fmla="*/ 177394 w 292178"/>
                <a:gd name="connsiteY2" fmla="*/ 137144 h 299687"/>
                <a:gd name="connsiteX3" fmla="*/ 292178 w 292178"/>
                <a:gd name="connsiteY3" fmla="*/ 299687 h 299687"/>
                <a:gd name="connsiteX4" fmla="*/ 0 w 292178"/>
                <a:gd name="connsiteY4" fmla="*/ 299687 h 299687"/>
                <a:gd name="connsiteX5" fmla="*/ 0 w 292178"/>
                <a:gd name="connsiteY5" fmla="*/ 0 h 299687"/>
                <a:gd name="connsiteX0" fmla="*/ 0 w 292178"/>
                <a:gd name="connsiteY0" fmla="*/ 0 h 299687"/>
                <a:gd name="connsiteX1" fmla="*/ 292178 w 292178"/>
                <a:gd name="connsiteY1" fmla="*/ 0 h 299687"/>
                <a:gd name="connsiteX2" fmla="*/ 198561 w 292178"/>
                <a:gd name="connsiteY2" fmla="*/ 154077 h 299687"/>
                <a:gd name="connsiteX3" fmla="*/ 292178 w 292178"/>
                <a:gd name="connsiteY3" fmla="*/ 299687 h 299687"/>
                <a:gd name="connsiteX4" fmla="*/ 0 w 292178"/>
                <a:gd name="connsiteY4" fmla="*/ 299687 h 299687"/>
                <a:gd name="connsiteX5" fmla="*/ 0 w 292178"/>
                <a:gd name="connsiteY5" fmla="*/ 0 h 299687"/>
                <a:gd name="connsiteX0" fmla="*/ 0 w 292178"/>
                <a:gd name="connsiteY0" fmla="*/ 0 h 299687"/>
                <a:gd name="connsiteX1" fmla="*/ 292178 w 292178"/>
                <a:gd name="connsiteY1" fmla="*/ 0 h 299687"/>
                <a:gd name="connsiteX2" fmla="*/ 208086 w 292178"/>
                <a:gd name="connsiteY2" fmla="*/ 147727 h 299687"/>
                <a:gd name="connsiteX3" fmla="*/ 292178 w 292178"/>
                <a:gd name="connsiteY3" fmla="*/ 299687 h 299687"/>
                <a:gd name="connsiteX4" fmla="*/ 0 w 292178"/>
                <a:gd name="connsiteY4" fmla="*/ 299687 h 299687"/>
                <a:gd name="connsiteX5" fmla="*/ 0 w 292178"/>
                <a:gd name="connsiteY5" fmla="*/ 0 h 299687"/>
                <a:gd name="connsiteX0" fmla="*/ 0 w 3530678"/>
                <a:gd name="connsiteY0" fmla="*/ 0 h 302862"/>
                <a:gd name="connsiteX1" fmla="*/ 3530678 w 3530678"/>
                <a:gd name="connsiteY1" fmla="*/ 3175 h 302862"/>
                <a:gd name="connsiteX2" fmla="*/ 3446586 w 3530678"/>
                <a:gd name="connsiteY2" fmla="*/ 150902 h 302862"/>
                <a:gd name="connsiteX3" fmla="*/ 3530678 w 3530678"/>
                <a:gd name="connsiteY3" fmla="*/ 302862 h 302862"/>
                <a:gd name="connsiteX4" fmla="*/ 3238500 w 3530678"/>
                <a:gd name="connsiteY4" fmla="*/ 302862 h 302862"/>
                <a:gd name="connsiteX5" fmla="*/ 0 w 3530678"/>
                <a:gd name="connsiteY5" fmla="*/ 0 h 302862"/>
                <a:gd name="connsiteX0" fmla="*/ 0 w 6950153"/>
                <a:gd name="connsiteY0" fmla="*/ 0 h 299687"/>
                <a:gd name="connsiteX1" fmla="*/ 6950153 w 6950153"/>
                <a:gd name="connsiteY1" fmla="*/ 0 h 299687"/>
                <a:gd name="connsiteX2" fmla="*/ 6866061 w 6950153"/>
                <a:gd name="connsiteY2" fmla="*/ 147727 h 299687"/>
                <a:gd name="connsiteX3" fmla="*/ 6950153 w 6950153"/>
                <a:gd name="connsiteY3" fmla="*/ 299687 h 299687"/>
                <a:gd name="connsiteX4" fmla="*/ 6657975 w 6950153"/>
                <a:gd name="connsiteY4" fmla="*/ 299687 h 299687"/>
                <a:gd name="connsiteX5" fmla="*/ 0 w 6950153"/>
                <a:gd name="connsiteY5" fmla="*/ 0 h 299687"/>
                <a:gd name="connsiteX0" fmla="*/ 0 w 8061403"/>
                <a:gd name="connsiteY0" fmla="*/ 9525 h 299687"/>
                <a:gd name="connsiteX1" fmla="*/ 8061403 w 8061403"/>
                <a:gd name="connsiteY1" fmla="*/ 0 h 299687"/>
                <a:gd name="connsiteX2" fmla="*/ 7977311 w 8061403"/>
                <a:gd name="connsiteY2" fmla="*/ 147727 h 299687"/>
                <a:gd name="connsiteX3" fmla="*/ 8061403 w 8061403"/>
                <a:gd name="connsiteY3" fmla="*/ 299687 h 299687"/>
                <a:gd name="connsiteX4" fmla="*/ 7769225 w 8061403"/>
                <a:gd name="connsiteY4" fmla="*/ 299687 h 299687"/>
                <a:gd name="connsiteX5" fmla="*/ 0 w 8061403"/>
                <a:gd name="connsiteY5" fmla="*/ 9525 h 299687"/>
                <a:gd name="connsiteX0" fmla="*/ 0 w 8061403"/>
                <a:gd name="connsiteY0" fmla="*/ 9525 h 299687"/>
                <a:gd name="connsiteX1" fmla="*/ 8061403 w 8061403"/>
                <a:gd name="connsiteY1" fmla="*/ 0 h 299687"/>
                <a:gd name="connsiteX2" fmla="*/ 7977311 w 8061403"/>
                <a:gd name="connsiteY2" fmla="*/ 147727 h 299687"/>
                <a:gd name="connsiteX3" fmla="*/ 8061403 w 8061403"/>
                <a:gd name="connsiteY3" fmla="*/ 299687 h 299687"/>
                <a:gd name="connsiteX4" fmla="*/ 4216400 w 8061403"/>
                <a:gd name="connsiteY4" fmla="*/ 299687 h 299687"/>
                <a:gd name="connsiteX5" fmla="*/ 0 w 8061403"/>
                <a:gd name="connsiteY5" fmla="*/ 9525 h 299687"/>
                <a:gd name="connsiteX0" fmla="*/ 0 w 8061403"/>
                <a:gd name="connsiteY0" fmla="*/ 9525 h 299687"/>
                <a:gd name="connsiteX1" fmla="*/ 8061403 w 8061403"/>
                <a:gd name="connsiteY1" fmla="*/ 0 h 299687"/>
                <a:gd name="connsiteX2" fmla="*/ 7977311 w 8061403"/>
                <a:gd name="connsiteY2" fmla="*/ 147727 h 299687"/>
                <a:gd name="connsiteX3" fmla="*/ 8061403 w 8061403"/>
                <a:gd name="connsiteY3" fmla="*/ 299687 h 299687"/>
                <a:gd name="connsiteX4" fmla="*/ 1616075 w 8061403"/>
                <a:gd name="connsiteY4" fmla="*/ 296512 h 299687"/>
                <a:gd name="connsiteX5" fmla="*/ 0 w 8061403"/>
                <a:gd name="connsiteY5" fmla="*/ 9525 h 299687"/>
                <a:gd name="connsiteX0" fmla="*/ 3175 w 8064578"/>
                <a:gd name="connsiteY0" fmla="*/ 9525 h 299687"/>
                <a:gd name="connsiteX1" fmla="*/ 8064578 w 8064578"/>
                <a:gd name="connsiteY1" fmla="*/ 0 h 299687"/>
                <a:gd name="connsiteX2" fmla="*/ 7980486 w 8064578"/>
                <a:gd name="connsiteY2" fmla="*/ 147727 h 299687"/>
                <a:gd name="connsiteX3" fmla="*/ 8064578 w 8064578"/>
                <a:gd name="connsiteY3" fmla="*/ 299687 h 299687"/>
                <a:gd name="connsiteX4" fmla="*/ 0 w 8064578"/>
                <a:gd name="connsiteY4" fmla="*/ 296512 h 299687"/>
                <a:gd name="connsiteX5" fmla="*/ 3175 w 8064578"/>
                <a:gd name="connsiteY5" fmla="*/ 9525 h 299687"/>
                <a:gd name="connsiteX0" fmla="*/ 3175 w 8064578"/>
                <a:gd name="connsiteY0" fmla="*/ 9525 h 299687"/>
                <a:gd name="connsiteX1" fmla="*/ 8064578 w 8064578"/>
                <a:gd name="connsiteY1" fmla="*/ 0 h 299687"/>
                <a:gd name="connsiteX2" fmla="*/ 7920690 w 8064578"/>
                <a:gd name="connsiteY2" fmla="*/ 145701 h 299687"/>
                <a:gd name="connsiteX3" fmla="*/ 8064578 w 8064578"/>
                <a:gd name="connsiteY3" fmla="*/ 299687 h 299687"/>
                <a:gd name="connsiteX4" fmla="*/ 0 w 8064578"/>
                <a:gd name="connsiteY4" fmla="*/ 296512 h 299687"/>
                <a:gd name="connsiteX5" fmla="*/ 3175 w 8064578"/>
                <a:gd name="connsiteY5" fmla="*/ 9525 h 299687"/>
                <a:gd name="connsiteX0" fmla="*/ 3175 w 8064578"/>
                <a:gd name="connsiteY0" fmla="*/ 9525 h 299687"/>
                <a:gd name="connsiteX1" fmla="*/ 8064578 w 8064578"/>
                <a:gd name="connsiteY1" fmla="*/ 0 h 299687"/>
                <a:gd name="connsiteX2" fmla="*/ 7930132 w 8064578"/>
                <a:gd name="connsiteY2" fmla="*/ 147782 h 299687"/>
                <a:gd name="connsiteX3" fmla="*/ 8064578 w 8064578"/>
                <a:gd name="connsiteY3" fmla="*/ 299687 h 299687"/>
                <a:gd name="connsiteX4" fmla="*/ 0 w 8064578"/>
                <a:gd name="connsiteY4" fmla="*/ 296512 h 299687"/>
                <a:gd name="connsiteX5" fmla="*/ 3175 w 8064578"/>
                <a:gd name="connsiteY5" fmla="*/ 9525 h 299687"/>
                <a:gd name="connsiteX0" fmla="*/ 308 w 8064858"/>
                <a:gd name="connsiteY0" fmla="*/ 1200 h 299687"/>
                <a:gd name="connsiteX1" fmla="*/ 8064858 w 8064858"/>
                <a:gd name="connsiteY1" fmla="*/ 0 h 299687"/>
                <a:gd name="connsiteX2" fmla="*/ 7930412 w 8064858"/>
                <a:gd name="connsiteY2" fmla="*/ 147782 h 299687"/>
                <a:gd name="connsiteX3" fmla="*/ 8064858 w 8064858"/>
                <a:gd name="connsiteY3" fmla="*/ 299687 h 299687"/>
                <a:gd name="connsiteX4" fmla="*/ 280 w 8064858"/>
                <a:gd name="connsiteY4" fmla="*/ 296512 h 299687"/>
                <a:gd name="connsiteX5" fmla="*/ 308 w 8064858"/>
                <a:gd name="connsiteY5" fmla="*/ 1200 h 299687"/>
                <a:gd name="connsiteX0" fmla="*/ 308 w 8064858"/>
                <a:gd name="connsiteY0" fmla="*/ 0 h 300568"/>
                <a:gd name="connsiteX1" fmla="*/ 8064858 w 8064858"/>
                <a:gd name="connsiteY1" fmla="*/ 881 h 300568"/>
                <a:gd name="connsiteX2" fmla="*/ 7930412 w 8064858"/>
                <a:gd name="connsiteY2" fmla="*/ 148663 h 300568"/>
                <a:gd name="connsiteX3" fmla="*/ 8064858 w 8064858"/>
                <a:gd name="connsiteY3" fmla="*/ 300568 h 300568"/>
                <a:gd name="connsiteX4" fmla="*/ 280 w 8064858"/>
                <a:gd name="connsiteY4" fmla="*/ 297393 h 300568"/>
                <a:gd name="connsiteX5" fmla="*/ 308 w 8064858"/>
                <a:gd name="connsiteY5" fmla="*/ 0 h 300568"/>
                <a:gd name="connsiteX0" fmla="*/ 28 w 8064578"/>
                <a:gd name="connsiteY0" fmla="*/ 0 h 300568"/>
                <a:gd name="connsiteX1" fmla="*/ 8064578 w 8064578"/>
                <a:gd name="connsiteY1" fmla="*/ 881 h 300568"/>
                <a:gd name="connsiteX2" fmla="*/ 7930132 w 8064578"/>
                <a:gd name="connsiteY2" fmla="*/ 148663 h 300568"/>
                <a:gd name="connsiteX3" fmla="*/ 8064578 w 8064578"/>
                <a:gd name="connsiteY3" fmla="*/ 300568 h 300568"/>
                <a:gd name="connsiteX4" fmla="*/ 0 w 8064578"/>
                <a:gd name="connsiteY4" fmla="*/ 297393 h 300568"/>
                <a:gd name="connsiteX5" fmla="*/ 28 w 8064578"/>
                <a:gd name="connsiteY5" fmla="*/ 0 h 300568"/>
                <a:gd name="connsiteX0" fmla="*/ 28 w 8064578"/>
                <a:gd name="connsiteY0" fmla="*/ 0 h 300568"/>
                <a:gd name="connsiteX1" fmla="*/ 8064578 w 8064578"/>
                <a:gd name="connsiteY1" fmla="*/ 881 h 300568"/>
                <a:gd name="connsiteX2" fmla="*/ 7941669 w 8064578"/>
                <a:gd name="connsiteY2" fmla="*/ 150744 h 300568"/>
                <a:gd name="connsiteX3" fmla="*/ 8064578 w 8064578"/>
                <a:gd name="connsiteY3" fmla="*/ 300568 h 300568"/>
                <a:gd name="connsiteX4" fmla="*/ 0 w 8064578"/>
                <a:gd name="connsiteY4" fmla="*/ 297393 h 300568"/>
                <a:gd name="connsiteX5" fmla="*/ 28 w 8064578"/>
                <a:gd name="connsiteY5" fmla="*/ 0 h 300568"/>
                <a:gd name="connsiteX0" fmla="*/ 28 w 8064578"/>
                <a:gd name="connsiteY0" fmla="*/ 0 h 300568"/>
                <a:gd name="connsiteX1" fmla="*/ 8064578 w 8064578"/>
                <a:gd name="connsiteY1" fmla="*/ 881 h 300568"/>
                <a:gd name="connsiteX2" fmla="*/ 7919436 w 8064578"/>
                <a:gd name="connsiteY2" fmla="*/ 154513 h 300568"/>
                <a:gd name="connsiteX3" fmla="*/ 8064578 w 8064578"/>
                <a:gd name="connsiteY3" fmla="*/ 300568 h 300568"/>
                <a:gd name="connsiteX4" fmla="*/ 0 w 8064578"/>
                <a:gd name="connsiteY4" fmla="*/ 297393 h 300568"/>
                <a:gd name="connsiteX5" fmla="*/ 28 w 8064578"/>
                <a:gd name="connsiteY5" fmla="*/ 0 h 300568"/>
                <a:gd name="connsiteX0" fmla="*/ 597148 w 8661698"/>
                <a:gd name="connsiteY0" fmla="*/ 21922 h 322490"/>
                <a:gd name="connsiteX1" fmla="*/ 8661698 w 8661698"/>
                <a:gd name="connsiteY1" fmla="*/ 22803 h 322490"/>
                <a:gd name="connsiteX2" fmla="*/ 8516556 w 8661698"/>
                <a:gd name="connsiteY2" fmla="*/ 176435 h 322490"/>
                <a:gd name="connsiteX3" fmla="*/ 8661698 w 8661698"/>
                <a:gd name="connsiteY3" fmla="*/ 322490 h 322490"/>
                <a:gd name="connsiteX4" fmla="*/ 597120 w 8661698"/>
                <a:gd name="connsiteY4" fmla="*/ 320945 h 322490"/>
                <a:gd name="connsiteX5" fmla="*/ 597148 w 8661698"/>
                <a:gd name="connsiteY5" fmla="*/ 21922 h 322490"/>
                <a:gd name="connsiteX0" fmla="*/ 28 w 8064578"/>
                <a:gd name="connsiteY0" fmla="*/ 21922 h 322490"/>
                <a:gd name="connsiteX1" fmla="*/ 8064578 w 8064578"/>
                <a:gd name="connsiteY1" fmla="*/ 22803 h 322490"/>
                <a:gd name="connsiteX2" fmla="*/ 7919436 w 8064578"/>
                <a:gd name="connsiteY2" fmla="*/ 176435 h 322490"/>
                <a:gd name="connsiteX3" fmla="*/ 8064578 w 8064578"/>
                <a:gd name="connsiteY3" fmla="*/ 322490 h 322490"/>
                <a:gd name="connsiteX4" fmla="*/ 0 w 8064578"/>
                <a:gd name="connsiteY4" fmla="*/ 320945 h 322490"/>
                <a:gd name="connsiteX5" fmla="*/ 28 w 8064578"/>
                <a:gd name="connsiteY5" fmla="*/ 21922 h 322490"/>
                <a:gd name="connsiteX0" fmla="*/ 28 w 8064578"/>
                <a:gd name="connsiteY0" fmla="*/ 246 h 300814"/>
                <a:gd name="connsiteX1" fmla="*/ 8064578 w 8064578"/>
                <a:gd name="connsiteY1" fmla="*/ 1127 h 300814"/>
                <a:gd name="connsiteX2" fmla="*/ 7919436 w 8064578"/>
                <a:gd name="connsiteY2" fmla="*/ 154759 h 300814"/>
                <a:gd name="connsiteX3" fmla="*/ 8064578 w 8064578"/>
                <a:gd name="connsiteY3" fmla="*/ 300814 h 300814"/>
                <a:gd name="connsiteX4" fmla="*/ 0 w 8064578"/>
                <a:gd name="connsiteY4" fmla="*/ 299269 h 300814"/>
                <a:gd name="connsiteX5" fmla="*/ 28 w 8064578"/>
                <a:gd name="connsiteY5" fmla="*/ 246 h 300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64578" h="300814">
                  <a:moveTo>
                    <a:pt x="28" y="246"/>
                  </a:moveTo>
                  <a:cubicBezTo>
                    <a:pt x="2126" y="-555"/>
                    <a:pt x="5376395" y="833"/>
                    <a:pt x="8064578" y="1127"/>
                  </a:cubicBezTo>
                  <a:lnTo>
                    <a:pt x="7919436" y="154759"/>
                  </a:lnTo>
                  <a:lnTo>
                    <a:pt x="8064578" y="300814"/>
                  </a:lnTo>
                  <a:lnTo>
                    <a:pt x="0" y="299269"/>
                  </a:lnTo>
                  <a:cubicBezTo>
                    <a:pt x="1058" y="203607"/>
                    <a:pt x="14" y="149757"/>
                    <a:pt x="28" y="24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78307"/>
                </a:solidFill>
              </a:endParaRPr>
            </a:p>
          </p:txBody>
        </p:sp>
      </p:grpSp>
      <p:cxnSp>
        <p:nvCxnSpPr>
          <p:cNvPr id="15" name="Straight Connector 14"/>
          <p:cNvCxnSpPr/>
          <p:nvPr userDrawn="1"/>
        </p:nvCxnSpPr>
        <p:spPr>
          <a:xfrm>
            <a:off x="271951" y="3152910"/>
            <a:ext cx="7843073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AutoShape 3"/>
          <p:cNvSpPr>
            <a:spLocks noChangeAspect="1" noChangeArrowheads="1" noTextEdit="1"/>
          </p:cNvSpPr>
          <p:nvPr userDrawn="1"/>
        </p:nvSpPr>
        <p:spPr bwMode="auto">
          <a:xfrm>
            <a:off x="306235" y="5864983"/>
            <a:ext cx="10660185" cy="8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 dirty="0"/>
          </a:p>
        </p:txBody>
      </p:sp>
      <p:grpSp>
        <p:nvGrpSpPr>
          <p:cNvPr id="19" name="Group 18"/>
          <p:cNvGrpSpPr/>
          <p:nvPr userDrawn="1"/>
        </p:nvGrpSpPr>
        <p:grpSpPr>
          <a:xfrm>
            <a:off x="274785" y="5904672"/>
            <a:ext cx="11625520" cy="46038"/>
            <a:chOff x="-540381" y="5887508"/>
            <a:chExt cx="9457729" cy="46038"/>
          </a:xfrm>
        </p:grpSpPr>
        <p:sp>
          <p:nvSpPr>
            <p:cNvPr id="20" name="Freeform 5"/>
            <p:cNvSpPr>
              <a:spLocks/>
            </p:cNvSpPr>
            <p:nvPr userDrawn="1"/>
          </p:nvSpPr>
          <p:spPr bwMode="auto">
            <a:xfrm>
              <a:off x="-540381" y="5887508"/>
              <a:ext cx="8074126" cy="46038"/>
            </a:xfrm>
            <a:custGeom>
              <a:avLst/>
              <a:gdLst>
                <a:gd name="T0" fmla="*/ 0 w 7638"/>
                <a:gd name="T1" fmla="*/ 0 w 7638"/>
                <a:gd name="T2" fmla="*/ 7638 w 763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7638">
                  <a:moveTo>
                    <a:pt x="0" y="0"/>
                  </a:moveTo>
                  <a:lnTo>
                    <a:pt x="0" y="0"/>
                  </a:lnTo>
                  <a:lnTo>
                    <a:pt x="7638" y="0"/>
                  </a:lnTo>
                </a:path>
              </a:pathLst>
            </a:custGeom>
            <a:noFill/>
            <a:ln w="90488" cap="flat">
              <a:solidFill>
                <a:srgbClr val="63666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1" name="Freeform 6"/>
            <p:cNvSpPr>
              <a:spLocks/>
            </p:cNvSpPr>
            <p:nvPr userDrawn="1"/>
          </p:nvSpPr>
          <p:spPr bwMode="auto">
            <a:xfrm>
              <a:off x="7639574" y="5887827"/>
              <a:ext cx="1277774" cy="45719"/>
            </a:xfrm>
            <a:custGeom>
              <a:avLst/>
              <a:gdLst>
                <a:gd name="T0" fmla="*/ 0 w 1357"/>
                <a:gd name="T1" fmla="*/ 0 w 1357"/>
                <a:gd name="T2" fmla="*/ 1357 w 1357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357">
                  <a:moveTo>
                    <a:pt x="0" y="0"/>
                  </a:moveTo>
                  <a:lnTo>
                    <a:pt x="0" y="0"/>
                  </a:lnTo>
                  <a:lnTo>
                    <a:pt x="1357" y="0"/>
                  </a:lnTo>
                </a:path>
              </a:pathLst>
            </a:custGeom>
            <a:solidFill>
              <a:srgbClr val="002D72"/>
            </a:solidFill>
            <a:ln w="90488" cap="flat">
              <a:solidFill>
                <a:srgbClr val="002D7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>
                <a:solidFill>
                  <a:srgbClr val="002D72"/>
                </a:solidFill>
              </a:endParaRPr>
            </a:p>
          </p:txBody>
        </p:sp>
      </p:grpSp>
      <p:sp>
        <p:nvSpPr>
          <p:cNvPr id="22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271053" y="2388261"/>
            <a:ext cx="7843073" cy="584775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 algn="l" rtl="0" eaLnBrk="1" fontAlgn="auto" hangingPunct="1">
              <a:spcBef>
                <a:spcPts val="0"/>
              </a:spcBef>
              <a:spcAft>
                <a:spcPts val="0"/>
              </a:spcAft>
              <a:buNone/>
              <a:defRPr lang="en-US" sz="3800" kern="1200" spc="-20" dirty="0" smtClean="0">
                <a:solidFill>
                  <a:srgbClr val="656565"/>
                </a:solidFill>
                <a:latin typeface="+mj-lt"/>
                <a:ea typeface="+mn-ea"/>
                <a:cs typeface="+mn-cs"/>
              </a:defRPr>
            </a:lvl1pPr>
            <a:lvl2pPr marL="457200" indent="0" algn="l" rtl="0" eaLnBrk="1" fontAlgn="auto" hangingPunct="1">
              <a:spcBef>
                <a:spcPts val="0"/>
              </a:spcBef>
              <a:spcAft>
                <a:spcPts val="0"/>
              </a:spcAft>
              <a:buNone/>
              <a:defRPr lang="en-US" sz="3600" kern="1200" spc="-20" dirty="0" smtClean="0">
                <a:solidFill>
                  <a:srgbClr val="656565"/>
                </a:solidFill>
                <a:latin typeface="+mj-lt"/>
                <a:ea typeface="+mn-ea"/>
                <a:cs typeface="+mn-cs"/>
              </a:defRPr>
            </a:lvl2pPr>
            <a:lvl3pPr marL="914400" indent="0" algn="l" rtl="0" eaLnBrk="1" fontAlgn="auto" hangingPunct="1">
              <a:spcBef>
                <a:spcPts val="0"/>
              </a:spcBef>
              <a:spcAft>
                <a:spcPts val="0"/>
              </a:spcAft>
              <a:buNone/>
              <a:defRPr lang="en-US" sz="3600" kern="1200" spc="-20" dirty="0" smtClean="0">
                <a:solidFill>
                  <a:srgbClr val="656565"/>
                </a:solidFill>
                <a:latin typeface="+mj-lt"/>
                <a:ea typeface="+mn-ea"/>
                <a:cs typeface="+mn-cs"/>
              </a:defRPr>
            </a:lvl3pPr>
            <a:lvl4pPr marL="1371600" indent="0" algn="l" rtl="0" eaLnBrk="1" fontAlgn="auto" hangingPunct="1">
              <a:spcBef>
                <a:spcPts val="0"/>
              </a:spcBef>
              <a:spcAft>
                <a:spcPts val="0"/>
              </a:spcAft>
              <a:buNone/>
              <a:defRPr lang="en-US" sz="3600" kern="1200" spc="-20" dirty="0" smtClean="0">
                <a:solidFill>
                  <a:srgbClr val="656565"/>
                </a:solidFill>
                <a:latin typeface="+mj-lt"/>
                <a:ea typeface="+mn-ea"/>
                <a:cs typeface="+mn-cs"/>
              </a:defRPr>
            </a:lvl4pPr>
            <a:lvl5pPr marL="1828800" indent="0" algn="l" rtl="0" eaLnBrk="1" fontAlgn="auto" hangingPunct="1">
              <a:spcBef>
                <a:spcPts val="0"/>
              </a:spcBef>
              <a:spcAft>
                <a:spcPts val="0"/>
              </a:spcAft>
              <a:buNone/>
              <a:defRPr lang="en-US" sz="3600" kern="1200" spc="-20" dirty="0">
                <a:solidFill>
                  <a:srgbClr val="656565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88500" y="3292242"/>
            <a:ext cx="7843073" cy="30777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 rtl="0" eaLnBrk="1" fontAlgn="auto" hangingPunct="1">
              <a:spcBef>
                <a:spcPts val="0"/>
              </a:spcBef>
              <a:spcAft>
                <a:spcPts val="0"/>
              </a:spcAft>
              <a:buNone/>
              <a:defRPr lang="en-US" sz="2000" kern="1200" spc="-20" dirty="0" smtClean="0">
                <a:solidFill>
                  <a:srgbClr val="656565"/>
                </a:solidFill>
                <a:latin typeface="+mj-lt"/>
                <a:ea typeface="+mn-ea"/>
                <a:cs typeface="+mn-cs"/>
              </a:defRPr>
            </a:lvl1pPr>
            <a:lvl2pPr marL="457200" indent="0" algn="l" rtl="0" eaLnBrk="1" fontAlgn="auto" hangingPunct="1">
              <a:spcBef>
                <a:spcPts val="0"/>
              </a:spcBef>
              <a:spcAft>
                <a:spcPts val="0"/>
              </a:spcAft>
              <a:buNone/>
              <a:defRPr lang="en-US" sz="3600" kern="1200" spc="-20" dirty="0" smtClean="0">
                <a:solidFill>
                  <a:srgbClr val="656565"/>
                </a:solidFill>
                <a:latin typeface="+mj-lt"/>
                <a:ea typeface="+mn-ea"/>
                <a:cs typeface="+mn-cs"/>
              </a:defRPr>
            </a:lvl2pPr>
            <a:lvl3pPr marL="914400" indent="0" algn="l" rtl="0" eaLnBrk="1" fontAlgn="auto" hangingPunct="1">
              <a:spcBef>
                <a:spcPts val="0"/>
              </a:spcBef>
              <a:spcAft>
                <a:spcPts val="0"/>
              </a:spcAft>
              <a:buNone/>
              <a:defRPr lang="en-US" sz="3600" kern="1200" spc="-20" dirty="0" smtClean="0">
                <a:solidFill>
                  <a:srgbClr val="656565"/>
                </a:solidFill>
                <a:latin typeface="+mj-lt"/>
                <a:ea typeface="+mn-ea"/>
                <a:cs typeface="+mn-cs"/>
              </a:defRPr>
            </a:lvl3pPr>
            <a:lvl4pPr marL="1371600" indent="0" algn="l" rtl="0" eaLnBrk="1" fontAlgn="auto" hangingPunct="1">
              <a:spcBef>
                <a:spcPts val="0"/>
              </a:spcBef>
              <a:spcAft>
                <a:spcPts val="0"/>
              </a:spcAft>
              <a:buNone/>
              <a:defRPr lang="en-US" sz="3600" kern="1200" spc="-20" dirty="0" smtClean="0">
                <a:solidFill>
                  <a:srgbClr val="656565"/>
                </a:solidFill>
                <a:latin typeface="+mj-lt"/>
                <a:ea typeface="+mn-ea"/>
                <a:cs typeface="+mn-cs"/>
              </a:defRPr>
            </a:lvl4pPr>
            <a:lvl5pPr marL="1828800" indent="0" algn="l" rtl="0" eaLnBrk="1" fontAlgn="auto" hangingPunct="1">
              <a:spcBef>
                <a:spcPts val="0"/>
              </a:spcBef>
              <a:spcAft>
                <a:spcPts val="0"/>
              </a:spcAft>
              <a:buNone/>
              <a:defRPr lang="en-US" sz="3600" kern="1200" spc="-20" dirty="0">
                <a:solidFill>
                  <a:srgbClr val="656565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9905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6364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289968" y="539749"/>
            <a:ext cx="11587808" cy="460800"/>
            <a:chOff x="215900" y="1382736"/>
            <a:chExt cx="9418637" cy="458544"/>
          </a:xfrm>
        </p:grpSpPr>
        <p:sp>
          <p:nvSpPr>
            <p:cNvPr id="13" name="Pentagon 12"/>
            <p:cNvSpPr/>
            <p:nvPr userDrawn="1"/>
          </p:nvSpPr>
          <p:spPr>
            <a:xfrm>
              <a:off x="215900" y="1382939"/>
              <a:ext cx="585009" cy="457327"/>
            </a:xfrm>
            <a:prstGeom prst="homePlate">
              <a:avLst>
                <a:gd name="adj" fmla="val 33648"/>
              </a:avLst>
            </a:prstGeom>
            <a:solidFill>
              <a:srgbClr val="002D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5"/>
                </a:solidFill>
              </a:endParaRPr>
            </a:p>
          </p:txBody>
        </p:sp>
        <p:sp>
          <p:nvSpPr>
            <p:cNvPr id="15" name="Pentagon 6"/>
            <p:cNvSpPr/>
            <p:nvPr userDrawn="1"/>
          </p:nvSpPr>
          <p:spPr>
            <a:xfrm rot="10800000">
              <a:off x="781049" y="1382736"/>
              <a:ext cx="8853488" cy="458544"/>
            </a:xfrm>
            <a:custGeom>
              <a:avLst/>
              <a:gdLst>
                <a:gd name="connsiteX0" fmla="*/ 0 w 380595"/>
                <a:gd name="connsiteY0" fmla="*/ 0 h 299687"/>
                <a:gd name="connsiteX1" fmla="*/ 292178 w 380595"/>
                <a:gd name="connsiteY1" fmla="*/ 0 h 299687"/>
                <a:gd name="connsiteX2" fmla="*/ 380595 w 380595"/>
                <a:gd name="connsiteY2" fmla="*/ 149844 h 299687"/>
                <a:gd name="connsiteX3" fmla="*/ 292178 w 380595"/>
                <a:gd name="connsiteY3" fmla="*/ 299687 h 299687"/>
                <a:gd name="connsiteX4" fmla="*/ 0 w 380595"/>
                <a:gd name="connsiteY4" fmla="*/ 299687 h 299687"/>
                <a:gd name="connsiteX5" fmla="*/ 0 w 380595"/>
                <a:gd name="connsiteY5" fmla="*/ 0 h 299687"/>
                <a:gd name="connsiteX0" fmla="*/ 0 w 292178"/>
                <a:gd name="connsiteY0" fmla="*/ 0 h 299687"/>
                <a:gd name="connsiteX1" fmla="*/ 292178 w 292178"/>
                <a:gd name="connsiteY1" fmla="*/ 0 h 299687"/>
                <a:gd name="connsiteX2" fmla="*/ 173161 w 292178"/>
                <a:gd name="connsiteY2" fmla="*/ 132911 h 299687"/>
                <a:gd name="connsiteX3" fmla="*/ 292178 w 292178"/>
                <a:gd name="connsiteY3" fmla="*/ 299687 h 299687"/>
                <a:gd name="connsiteX4" fmla="*/ 0 w 292178"/>
                <a:gd name="connsiteY4" fmla="*/ 299687 h 299687"/>
                <a:gd name="connsiteX5" fmla="*/ 0 w 292178"/>
                <a:gd name="connsiteY5" fmla="*/ 0 h 299687"/>
                <a:gd name="connsiteX0" fmla="*/ 0 w 292178"/>
                <a:gd name="connsiteY0" fmla="*/ 0 h 299687"/>
                <a:gd name="connsiteX1" fmla="*/ 292178 w 292178"/>
                <a:gd name="connsiteY1" fmla="*/ 0 h 299687"/>
                <a:gd name="connsiteX2" fmla="*/ 101194 w 292178"/>
                <a:gd name="connsiteY2" fmla="*/ 132911 h 299687"/>
                <a:gd name="connsiteX3" fmla="*/ 292178 w 292178"/>
                <a:gd name="connsiteY3" fmla="*/ 299687 h 299687"/>
                <a:gd name="connsiteX4" fmla="*/ 0 w 292178"/>
                <a:gd name="connsiteY4" fmla="*/ 299687 h 299687"/>
                <a:gd name="connsiteX5" fmla="*/ 0 w 292178"/>
                <a:gd name="connsiteY5" fmla="*/ 0 h 299687"/>
                <a:gd name="connsiteX0" fmla="*/ 0 w 292178"/>
                <a:gd name="connsiteY0" fmla="*/ 0 h 299687"/>
                <a:gd name="connsiteX1" fmla="*/ 292178 w 292178"/>
                <a:gd name="connsiteY1" fmla="*/ 0 h 299687"/>
                <a:gd name="connsiteX2" fmla="*/ 177394 w 292178"/>
                <a:gd name="connsiteY2" fmla="*/ 137144 h 299687"/>
                <a:gd name="connsiteX3" fmla="*/ 292178 w 292178"/>
                <a:gd name="connsiteY3" fmla="*/ 299687 h 299687"/>
                <a:gd name="connsiteX4" fmla="*/ 0 w 292178"/>
                <a:gd name="connsiteY4" fmla="*/ 299687 h 299687"/>
                <a:gd name="connsiteX5" fmla="*/ 0 w 292178"/>
                <a:gd name="connsiteY5" fmla="*/ 0 h 299687"/>
                <a:gd name="connsiteX0" fmla="*/ 0 w 292178"/>
                <a:gd name="connsiteY0" fmla="*/ 0 h 299687"/>
                <a:gd name="connsiteX1" fmla="*/ 292178 w 292178"/>
                <a:gd name="connsiteY1" fmla="*/ 0 h 299687"/>
                <a:gd name="connsiteX2" fmla="*/ 198561 w 292178"/>
                <a:gd name="connsiteY2" fmla="*/ 154077 h 299687"/>
                <a:gd name="connsiteX3" fmla="*/ 292178 w 292178"/>
                <a:gd name="connsiteY3" fmla="*/ 299687 h 299687"/>
                <a:gd name="connsiteX4" fmla="*/ 0 w 292178"/>
                <a:gd name="connsiteY4" fmla="*/ 299687 h 299687"/>
                <a:gd name="connsiteX5" fmla="*/ 0 w 292178"/>
                <a:gd name="connsiteY5" fmla="*/ 0 h 299687"/>
                <a:gd name="connsiteX0" fmla="*/ 0 w 292178"/>
                <a:gd name="connsiteY0" fmla="*/ 0 h 299687"/>
                <a:gd name="connsiteX1" fmla="*/ 292178 w 292178"/>
                <a:gd name="connsiteY1" fmla="*/ 0 h 299687"/>
                <a:gd name="connsiteX2" fmla="*/ 208086 w 292178"/>
                <a:gd name="connsiteY2" fmla="*/ 147727 h 299687"/>
                <a:gd name="connsiteX3" fmla="*/ 292178 w 292178"/>
                <a:gd name="connsiteY3" fmla="*/ 299687 h 299687"/>
                <a:gd name="connsiteX4" fmla="*/ 0 w 292178"/>
                <a:gd name="connsiteY4" fmla="*/ 299687 h 299687"/>
                <a:gd name="connsiteX5" fmla="*/ 0 w 292178"/>
                <a:gd name="connsiteY5" fmla="*/ 0 h 299687"/>
                <a:gd name="connsiteX0" fmla="*/ 0 w 3530678"/>
                <a:gd name="connsiteY0" fmla="*/ 0 h 302862"/>
                <a:gd name="connsiteX1" fmla="*/ 3530678 w 3530678"/>
                <a:gd name="connsiteY1" fmla="*/ 3175 h 302862"/>
                <a:gd name="connsiteX2" fmla="*/ 3446586 w 3530678"/>
                <a:gd name="connsiteY2" fmla="*/ 150902 h 302862"/>
                <a:gd name="connsiteX3" fmla="*/ 3530678 w 3530678"/>
                <a:gd name="connsiteY3" fmla="*/ 302862 h 302862"/>
                <a:gd name="connsiteX4" fmla="*/ 3238500 w 3530678"/>
                <a:gd name="connsiteY4" fmla="*/ 302862 h 302862"/>
                <a:gd name="connsiteX5" fmla="*/ 0 w 3530678"/>
                <a:gd name="connsiteY5" fmla="*/ 0 h 302862"/>
                <a:gd name="connsiteX0" fmla="*/ 0 w 6950153"/>
                <a:gd name="connsiteY0" fmla="*/ 0 h 299687"/>
                <a:gd name="connsiteX1" fmla="*/ 6950153 w 6950153"/>
                <a:gd name="connsiteY1" fmla="*/ 0 h 299687"/>
                <a:gd name="connsiteX2" fmla="*/ 6866061 w 6950153"/>
                <a:gd name="connsiteY2" fmla="*/ 147727 h 299687"/>
                <a:gd name="connsiteX3" fmla="*/ 6950153 w 6950153"/>
                <a:gd name="connsiteY3" fmla="*/ 299687 h 299687"/>
                <a:gd name="connsiteX4" fmla="*/ 6657975 w 6950153"/>
                <a:gd name="connsiteY4" fmla="*/ 299687 h 299687"/>
                <a:gd name="connsiteX5" fmla="*/ 0 w 6950153"/>
                <a:gd name="connsiteY5" fmla="*/ 0 h 299687"/>
                <a:gd name="connsiteX0" fmla="*/ 0 w 8061403"/>
                <a:gd name="connsiteY0" fmla="*/ 9525 h 299687"/>
                <a:gd name="connsiteX1" fmla="*/ 8061403 w 8061403"/>
                <a:gd name="connsiteY1" fmla="*/ 0 h 299687"/>
                <a:gd name="connsiteX2" fmla="*/ 7977311 w 8061403"/>
                <a:gd name="connsiteY2" fmla="*/ 147727 h 299687"/>
                <a:gd name="connsiteX3" fmla="*/ 8061403 w 8061403"/>
                <a:gd name="connsiteY3" fmla="*/ 299687 h 299687"/>
                <a:gd name="connsiteX4" fmla="*/ 7769225 w 8061403"/>
                <a:gd name="connsiteY4" fmla="*/ 299687 h 299687"/>
                <a:gd name="connsiteX5" fmla="*/ 0 w 8061403"/>
                <a:gd name="connsiteY5" fmla="*/ 9525 h 299687"/>
                <a:gd name="connsiteX0" fmla="*/ 0 w 8061403"/>
                <a:gd name="connsiteY0" fmla="*/ 9525 h 299687"/>
                <a:gd name="connsiteX1" fmla="*/ 8061403 w 8061403"/>
                <a:gd name="connsiteY1" fmla="*/ 0 h 299687"/>
                <a:gd name="connsiteX2" fmla="*/ 7977311 w 8061403"/>
                <a:gd name="connsiteY2" fmla="*/ 147727 h 299687"/>
                <a:gd name="connsiteX3" fmla="*/ 8061403 w 8061403"/>
                <a:gd name="connsiteY3" fmla="*/ 299687 h 299687"/>
                <a:gd name="connsiteX4" fmla="*/ 4216400 w 8061403"/>
                <a:gd name="connsiteY4" fmla="*/ 299687 h 299687"/>
                <a:gd name="connsiteX5" fmla="*/ 0 w 8061403"/>
                <a:gd name="connsiteY5" fmla="*/ 9525 h 299687"/>
                <a:gd name="connsiteX0" fmla="*/ 0 w 8061403"/>
                <a:gd name="connsiteY0" fmla="*/ 9525 h 299687"/>
                <a:gd name="connsiteX1" fmla="*/ 8061403 w 8061403"/>
                <a:gd name="connsiteY1" fmla="*/ 0 h 299687"/>
                <a:gd name="connsiteX2" fmla="*/ 7977311 w 8061403"/>
                <a:gd name="connsiteY2" fmla="*/ 147727 h 299687"/>
                <a:gd name="connsiteX3" fmla="*/ 8061403 w 8061403"/>
                <a:gd name="connsiteY3" fmla="*/ 299687 h 299687"/>
                <a:gd name="connsiteX4" fmla="*/ 1616075 w 8061403"/>
                <a:gd name="connsiteY4" fmla="*/ 296512 h 299687"/>
                <a:gd name="connsiteX5" fmla="*/ 0 w 8061403"/>
                <a:gd name="connsiteY5" fmla="*/ 9525 h 299687"/>
                <a:gd name="connsiteX0" fmla="*/ 3175 w 8064578"/>
                <a:gd name="connsiteY0" fmla="*/ 9525 h 299687"/>
                <a:gd name="connsiteX1" fmla="*/ 8064578 w 8064578"/>
                <a:gd name="connsiteY1" fmla="*/ 0 h 299687"/>
                <a:gd name="connsiteX2" fmla="*/ 7980486 w 8064578"/>
                <a:gd name="connsiteY2" fmla="*/ 147727 h 299687"/>
                <a:gd name="connsiteX3" fmla="*/ 8064578 w 8064578"/>
                <a:gd name="connsiteY3" fmla="*/ 299687 h 299687"/>
                <a:gd name="connsiteX4" fmla="*/ 0 w 8064578"/>
                <a:gd name="connsiteY4" fmla="*/ 296512 h 299687"/>
                <a:gd name="connsiteX5" fmla="*/ 3175 w 8064578"/>
                <a:gd name="connsiteY5" fmla="*/ 9525 h 299687"/>
                <a:gd name="connsiteX0" fmla="*/ 3175 w 8064578"/>
                <a:gd name="connsiteY0" fmla="*/ 9525 h 299687"/>
                <a:gd name="connsiteX1" fmla="*/ 8064578 w 8064578"/>
                <a:gd name="connsiteY1" fmla="*/ 0 h 299687"/>
                <a:gd name="connsiteX2" fmla="*/ 7920690 w 8064578"/>
                <a:gd name="connsiteY2" fmla="*/ 145701 h 299687"/>
                <a:gd name="connsiteX3" fmla="*/ 8064578 w 8064578"/>
                <a:gd name="connsiteY3" fmla="*/ 299687 h 299687"/>
                <a:gd name="connsiteX4" fmla="*/ 0 w 8064578"/>
                <a:gd name="connsiteY4" fmla="*/ 296512 h 299687"/>
                <a:gd name="connsiteX5" fmla="*/ 3175 w 8064578"/>
                <a:gd name="connsiteY5" fmla="*/ 9525 h 299687"/>
                <a:gd name="connsiteX0" fmla="*/ 3175 w 8064578"/>
                <a:gd name="connsiteY0" fmla="*/ 9525 h 299687"/>
                <a:gd name="connsiteX1" fmla="*/ 8064578 w 8064578"/>
                <a:gd name="connsiteY1" fmla="*/ 0 h 299687"/>
                <a:gd name="connsiteX2" fmla="*/ 7930132 w 8064578"/>
                <a:gd name="connsiteY2" fmla="*/ 147782 h 299687"/>
                <a:gd name="connsiteX3" fmla="*/ 8064578 w 8064578"/>
                <a:gd name="connsiteY3" fmla="*/ 299687 h 299687"/>
                <a:gd name="connsiteX4" fmla="*/ 0 w 8064578"/>
                <a:gd name="connsiteY4" fmla="*/ 296512 h 299687"/>
                <a:gd name="connsiteX5" fmla="*/ 3175 w 8064578"/>
                <a:gd name="connsiteY5" fmla="*/ 9525 h 299687"/>
                <a:gd name="connsiteX0" fmla="*/ 308 w 8064858"/>
                <a:gd name="connsiteY0" fmla="*/ 1200 h 299687"/>
                <a:gd name="connsiteX1" fmla="*/ 8064858 w 8064858"/>
                <a:gd name="connsiteY1" fmla="*/ 0 h 299687"/>
                <a:gd name="connsiteX2" fmla="*/ 7930412 w 8064858"/>
                <a:gd name="connsiteY2" fmla="*/ 147782 h 299687"/>
                <a:gd name="connsiteX3" fmla="*/ 8064858 w 8064858"/>
                <a:gd name="connsiteY3" fmla="*/ 299687 h 299687"/>
                <a:gd name="connsiteX4" fmla="*/ 280 w 8064858"/>
                <a:gd name="connsiteY4" fmla="*/ 296512 h 299687"/>
                <a:gd name="connsiteX5" fmla="*/ 308 w 8064858"/>
                <a:gd name="connsiteY5" fmla="*/ 1200 h 299687"/>
                <a:gd name="connsiteX0" fmla="*/ 308 w 8064858"/>
                <a:gd name="connsiteY0" fmla="*/ 0 h 300568"/>
                <a:gd name="connsiteX1" fmla="*/ 8064858 w 8064858"/>
                <a:gd name="connsiteY1" fmla="*/ 881 h 300568"/>
                <a:gd name="connsiteX2" fmla="*/ 7930412 w 8064858"/>
                <a:gd name="connsiteY2" fmla="*/ 148663 h 300568"/>
                <a:gd name="connsiteX3" fmla="*/ 8064858 w 8064858"/>
                <a:gd name="connsiteY3" fmla="*/ 300568 h 300568"/>
                <a:gd name="connsiteX4" fmla="*/ 280 w 8064858"/>
                <a:gd name="connsiteY4" fmla="*/ 297393 h 300568"/>
                <a:gd name="connsiteX5" fmla="*/ 308 w 8064858"/>
                <a:gd name="connsiteY5" fmla="*/ 0 h 300568"/>
                <a:gd name="connsiteX0" fmla="*/ 28 w 8064578"/>
                <a:gd name="connsiteY0" fmla="*/ 0 h 300568"/>
                <a:gd name="connsiteX1" fmla="*/ 8064578 w 8064578"/>
                <a:gd name="connsiteY1" fmla="*/ 881 h 300568"/>
                <a:gd name="connsiteX2" fmla="*/ 7930132 w 8064578"/>
                <a:gd name="connsiteY2" fmla="*/ 148663 h 300568"/>
                <a:gd name="connsiteX3" fmla="*/ 8064578 w 8064578"/>
                <a:gd name="connsiteY3" fmla="*/ 300568 h 300568"/>
                <a:gd name="connsiteX4" fmla="*/ 0 w 8064578"/>
                <a:gd name="connsiteY4" fmla="*/ 297393 h 300568"/>
                <a:gd name="connsiteX5" fmla="*/ 28 w 8064578"/>
                <a:gd name="connsiteY5" fmla="*/ 0 h 300568"/>
                <a:gd name="connsiteX0" fmla="*/ 28 w 8064578"/>
                <a:gd name="connsiteY0" fmla="*/ 0 h 300568"/>
                <a:gd name="connsiteX1" fmla="*/ 8064578 w 8064578"/>
                <a:gd name="connsiteY1" fmla="*/ 881 h 300568"/>
                <a:gd name="connsiteX2" fmla="*/ 7941669 w 8064578"/>
                <a:gd name="connsiteY2" fmla="*/ 150744 h 300568"/>
                <a:gd name="connsiteX3" fmla="*/ 8064578 w 8064578"/>
                <a:gd name="connsiteY3" fmla="*/ 300568 h 300568"/>
                <a:gd name="connsiteX4" fmla="*/ 0 w 8064578"/>
                <a:gd name="connsiteY4" fmla="*/ 297393 h 300568"/>
                <a:gd name="connsiteX5" fmla="*/ 28 w 8064578"/>
                <a:gd name="connsiteY5" fmla="*/ 0 h 300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64578" h="300568">
                  <a:moveTo>
                    <a:pt x="28" y="0"/>
                  </a:moveTo>
                  <a:cubicBezTo>
                    <a:pt x="-2061" y="71"/>
                    <a:pt x="5376395" y="587"/>
                    <a:pt x="8064578" y="881"/>
                  </a:cubicBezTo>
                  <a:lnTo>
                    <a:pt x="7941669" y="150744"/>
                  </a:lnTo>
                  <a:lnTo>
                    <a:pt x="8064578" y="300568"/>
                  </a:lnTo>
                  <a:lnTo>
                    <a:pt x="0" y="297393"/>
                  </a:lnTo>
                  <a:cubicBezTo>
                    <a:pt x="1058" y="201731"/>
                    <a:pt x="2117" y="-71"/>
                    <a:pt x="28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78307"/>
                </a:solidFill>
              </a:endParaRPr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98954" y="555660"/>
            <a:ext cx="9581161" cy="43204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6939" y="1125538"/>
            <a:ext cx="11074400" cy="504031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87963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lang="en-US" sz="1800" b="1" kern="1200" dirty="0">
          <a:solidFill>
            <a:schemeClr val="bg1"/>
          </a:solidFill>
          <a:latin typeface="+mn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anose="020B0604020202020204" pitchFamily="34" charset="0"/>
        <a:buNone/>
        <a:defRPr sz="800" kern="1200">
          <a:solidFill>
            <a:schemeClr val="tx1"/>
          </a:solidFill>
          <a:latin typeface="Amplitude Light" pitchFamily="50" charset="0"/>
          <a:ea typeface="+mn-ea"/>
          <a:cs typeface="+mn-cs"/>
        </a:defRPr>
      </a:lvl1pPr>
      <a:lvl2pPr marL="180975" indent="-180975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Amplitude Light" pitchFamily="50" charset="0"/>
          <a:ea typeface="+mn-ea"/>
          <a:cs typeface="+mn-cs"/>
        </a:defRPr>
      </a:lvl2pPr>
      <a:lvl3pPr marL="355600" indent="-174625" algn="l" defTabSz="914400" rtl="0" eaLnBrk="1" latinLnBrk="0" hangingPunct="1">
        <a:spcBef>
          <a:spcPct val="20000"/>
        </a:spcBef>
        <a:buFont typeface="Arial" panose="020B0604020202020204" pitchFamily="34" charset="0"/>
        <a:buChar char="‒"/>
        <a:defRPr sz="800" kern="1200">
          <a:solidFill>
            <a:schemeClr val="tx1"/>
          </a:solidFill>
          <a:latin typeface="Amplitude Light" pitchFamily="50" charset="0"/>
          <a:ea typeface="+mn-ea"/>
          <a:cs typeface="+mn-cs"/>
        </a:defRPr>
      </a:lvl3pPr>
      <a:lvl4pPr marL="539750" indent="-1841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800" kern="1200">
          <a:solidFill>
            <a:schemeClr val="tx1"/>
          </a:solidFill>
          <a:latin typeface="Amplitude Light" pitchFamily="50" charset="0"/>
          <a:ea typeface="+mn-ea"/>
          <a:cs typeface="+mn-cs"/>
        </a:defRPr>
      </a:lvl4pPr>
      <a:lvl5pPr marL="719138" indent="-180975" algn="l" defTabSz="914400" rtl="0" eaLnBrk="1" latinLnBrk="0" hangingPunct="1">
        <a:spcBef>
          <a:spcPct val="20000"/>
        </a:spcBef>
        <a:buFont typeface="Arial" panose="020B0604020202020204" pitchFamily="34" charset="0"/>
        <a:buChar char="‒"/>
        <a:defRPr sz="800" kern="1200">
          <a:solidFill>
            <a:schemeClr val="tx1"/>
          </a:solidFill>
          <a:latin typeface="Amplitude Light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288500" y="3292242"/>
            <a:ext cx="11560600" cy="1815882"/>
          </a:xfrm>
        </p:spPr>
        <p:txBody>
          <a:bodyPr/>
          <a:lstStyle/>
          <a:p>
            <a:r>
              <a:rPr lang="en-US" sz="2800" b="1" kern="0" dirty="0">
                <a:solidFill>
                  <a:srgbClr val="002D72"/>
                </a:solidFill>
                <a:latin typeface="Arial" panose="020B0604020202020204" pitchFamily="34" charset="0"/>
              </a:rPr>
              <a:t>Yoyo Card’s 12-month journey</a:t>
            </a:r>
          </a:p>
          <a:p>
            <a:r>
              <a:rPr lang="en-GB" kern="0" dirty="0">
                <a:solidFill>
                  <a:srgbClr val="002D72"/>
                </a:solidFill>
                <a:latin typeface="Arial" panose="020B0604020202020204" pitchFamily="34" charset="0"/>
              </a:rPr>
              <a:t>Treasury and Trade Solutions</a:t>
            </a:r>
            <a:endParaRPr lang="en-GB" sz="1800" kern="0" dirty="0">
              <a:solidFill>
                <a:srgbClr val="002D72"/>
              </a:solidFill>
              <a:latin typeface="Arial" panose="020B0604020202020204" pitchFamily="34" charset="0"/>
            </a:endParaRPr>
          </a:p>
          <a:p>
            <a:endParaRPr lang="en-GB" sz="1800" kern="0" dirty="0">
              <a:solidFill>
                <a:srgbClr val="002D72"/>
              </a:solidFill>
              <a:latin typeface="Arial" panose="020B0604020202020204" pitchFamily="34" charset="0"/>
            </a:endParaRPr>
          </a:p>
          <a:p>
            <a:endParaRPr lang="en-GB" sz="1800" kern="0" dirty="0">
              <a:solidFill>
                <a:srgbClr val="002D72"/>
              </a:solidFill>
              <a:latin typeface="Arial" panose="020B0604020202020204" pitchFamily="34" charset="0"/>
            </a:endParaRPr>
          </a:p>
          <a:p>
            <a:pPr algn="r"/>
            <a:r>
              <a:rPr lang="en-US" sz="1400" kern="0" dirty="0">
                <a:solidFill>
                  <a:srgbClr val="002D72"/>
                </a:solidFill>
                <a:latin typeface="Arial" panose="020B0604020202020204" pitchFamily="34" charset="0"/>
              </a:rPr>
              <a:t>February 7, 2024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1832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D76CC-432B-3544-A841-51CE64827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Yoyo Card – Corporate Transaction Insights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F100F2-D447-48A3-8253-27CFEDD44DEB}"/>
              </a:ext>
            </a:extLst>
          </p:cNvPr>
          <p:cNvSpPr txBox="1"/>
          <p:nvPr/>
        </p:nvSpPr>
        <p:spPr>
          <a:xfrm>
            <a:off x="570585" y="1149026"/>
            <a:ext cx="11308677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spcAft>
                <a:spcPts val="600"/>
              </a:spcAft>
            </a:pPr>
            <a:r>
              <a:rPr lang="en-IN" dirty="0">
                <a:solidFill>
                  <a:srgbClr val="002D72"/>
                </a:solidFill>
              </a:rPr>
              <a:t>The following </a:t>
            </a:r>
            <a:r>
              <a:rPr lang="en-GB" dirty="0">
                <a:solidFill>
                  <a:srgbClr val="002D72"/>
                </a:solidFill>
              </a:rPr>
              <a:t>insights were derived from 5,000 corporate transactions made over the last year:</a:t>
            </a:r>
            <a:endParaRPr lang="en-GB" b="1" dirty="0">
              <a:solidFill>
                <a:srgbClr val="002D72"/>
              </a:solidFill>
            </a:endParaRPr>
          </a:p>
          <a:p>
            <a:pPr marL="3429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002D72"/>
                </a:solidFill>
              </a:rPr>
              <a:t>Clientele </a:t>
            </a:r>
            <a:r>
              <a:rPr lang="en-GB" dirty="0">
                <a:solidFill>
                  <a:srgbClr val="002D72"/>
                </a:solidFill>
              </a:rPr>
              <a:t>–</a:t>
            </a:r>
            <a:r>
              <a:rPr lang="en-IN" dirty="0">
                <a:solidFill>
                  <a:srgbClr val="002D72"/>
                </a:solidFill>
              </a:rPr>
              <a:t> Majority of the client are mid to large corporate clients with a smaller section of Them contributing heavily. </a:t>
            </a:r>
            <a:endParaRPr lang="en-GB" dirty="0">
              <a:solidFill>
                <a:srgbClr val="002D72"/>
              </a:solidFill>
            </a:endParaRPr>
          </a:p>
          <a:p>
            <a:pPr marL="3429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002D72"/>
                </a:solidFill>
              </a:rPr>
              <a:t>Transactions </a:t>
            </a:r>
            <a:r>
              <a:rPr lang="en-GB" dirty="0">
                <a:solidFill>
                  <a:srgbClr val="002D72"/>
                </a:solidFill>
              </a:rPr>
              <a:t>–</a:t>
            </a:r>
            <a:r>
              <a:rPr lang="en-IN" dirty="0">
                <a:solidFill>
                  <a:srgbClr val="002D72"/>
                </a:solidFill>
              </a:rPr>
              <a:t> About 75% transaction are domestic with 25% overseas transaction. The overseas transaction fee drives more revenue than domestic ones. </a:t>
            </a:r>
            <a:endParaRPr lang="en-GB" dirty="0">
              <a:solidFill>
                <a:srgbClr val="002D72"/>
              </a:solidFill>
            </a:endParaRPr>
          </a:p>
          <a:p>
            <a:pPr marL="3429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002D72"/>
                </a:solidFill>
              </a:rPr>
              <a:t>Region </a:t>
            </a:r>
            <a:r>
              <a:rPr lang="en-GB" dirty="0">
                <a:solidFill>
                  <a:srgbClr val="002D72"/>
                </a:solidFill>
              </a:rPr>
              <a:t>–</a:t>
            </a:r>
            <a:r>
              <a:rPr lang="en-IN" dirty="0">
                <a:solidFill>
                  <a:srgbClr val="002D72"/>
                </a:solidFill>
              </a:rPr>
              <a:t> Domestic transaction Contribute more in transaction revenue and more transaction counts, overseas transaction total fees is higher than domestic </a:t>
            </a:r>
            <a:endParaRPr lang="en-GB" dirty="0">
              <a:solidFill>
                <a:srgbClr val="002D72"/>
              </a:solidFill>
            </a:endParaRPr>
          </a:p>
          <a:p>
            <a:pPr marL="3429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002D72"/>
                </a:solidFill>
              </a:rPr>
              <a:t>Payment Mode</a:t>
            </a:r>
            <a:r>
              <a:rPr lang="en-GB" dirty="0">
                <a:solidFill>
                  <a:srgbClr val="002D72"/>
                </a:solidFill>
              </a:rPr>
              <a:t> – </a:t>
            </a:r>
            <a:r>
              <a:rPr lang="en-IN" dirty="0">
                <a:solidFill>
                  <a:srgbClr val="002D72"/>
                </a:solidFill>
              </a:rPr>
              <a:t>51% payments were made in Cash, followed by 33% made via online mode and 16% in bank transfer. </a:t>
            </a:r>
            <a:endParaRPr lang="en-GB" dirty="0">
              <a:solidFill>
                <a:srgbClr val="002D7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863A52-D53D-41D5-83B8-A7C248FD3534}"/>
              </a:ext>
            </a:extLst>
          </p:cNvPr>
          <p:cNvSpPr txBox="1"/>
          <p:nvPr/>
        </p:nvSpPr>
        <p:spPr>
          <a:xfrm>
            <a:off x="570585" y="3985021"/>
            <a:ext cx="8050901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spcAft>
                <a:spcPts val="600"/>
              </a:spcAft>
            </a:pPr>
            <a:r>
              <a:rPr lang="en-GB" b="1" dirty="0">
                <a:solidFill>
                  <a:srgbClr val="002D72"/>
                </a:solidFill>
              </a:rPr>
              <a:t>Suggestions</a:t>
            </a:r>
          </a:p>
          <a:p>
            <a:pPr marL="2857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D72"/>
                </a:solidFill>
              </a:rPr>
              <a:t> </a:t>
            </a:r>
            <a:r>
              <a:rPr lang="en-IN" dirty="0">
                <a:solidFill>
                  <a:srgbClr val="002D72"/>
                </a:solidFill>
              </a:rPr>
              <a:t>Tiered pricing can be introduced to increase overseas transactions.</a:t>
            </a:r>
            <a:endParaRPr lang="en-GB" dirty="0">
              <a:solidFill>
                <a:srgbClr val="002D72"/>
              </a:solidFill>
            </a:endParaRPr>
          </a:p>
          <a:p>
            <a:pPr marL="2857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D72"/>
                </a:solidFill>
              </a:rPr>
              <a:t> </a:t>
            </a:r>
            <a:r>
              <a:rPr lang="en-IN" dirty="0">
                <a:solidFill>
                  <a:srgbClr val="002D72"/>
                </a:solidFill>
              </a:rPr>
              <a:t>Virtual cards can be introduced </a:t>
            </a:r>
            <a:r>
              <a:rPr lang="en-IN" dirty="0" err="1">
                <a:solidFill>
                  <a:srgbClr val="002D72"/>
                </a:solidFill>
              </a:rPr>
              <a:t>flto</a:t>
            </a:r>
            <a:r>
              <a:rPr lang="en-IN" dirty="0">
                <a:solidFill>
                  <a:srgbClr val="002D72"/>
                </a:solidFill>
              </a:rPr>
              <a:t> drive more online transactions.</a:t>
            </a:r>
            <a:endParaRPr lang="en-GB" dirty="0">
              <a:solidFill>
                <a:srgbClr val="002D72"/>
              </a:solidFill>
            </a:endParaRPr>
          </a:p>
          <a:p>
            <a:pPr marL="2857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D72"/>
                </a:solidFill>
              </a:rPr>
              <a:t> </a:t>
            </a:r>
            <a:r>
              <a:rPr lang="en-IN" dirty="0">
                <a:solidFill>
                  <a:srgbClr val="002D72"/>
                </a:solidFill>
              </a:rPr>
              <a:t>Bundled FX and card solutions can be introduced to increase transaction count and hence drive more revenue in overseas transactions </a:t>
            </a:r>
            <a:endParaRPr lang="en-GB" dirty="0">
              <a:solidFill>
                <a:srgbClr val="002D7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2004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D76CC-432B-3544-A841-51CE64827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Yoyo Card – Spending Insights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DA326B48-B825-7DC5-2E0B-484B6B5DE3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95426276"/>
              </p:ext>
            </p:extLst>
          </p:nvPr>
        </p:nvGraphicFramePr>
        <p:xfrm>
          <a:off x="0" y="1498169"/>
          <a:ext cx="5746181" cy="41901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EEA65123-89C0-C14D-FF00-6EFE3893603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49326736"/>
              </p:ext>
            </p:extLst>
          </p:nvPr>
        </p:nvGraphicFramePr>
        <p:xfrm>
          <a:off x="5546912" y="1818777"/>
          <a:ext cx="6645088" cy="34199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134189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D76CC-432B-3544-A841-51CE64827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Yoyo Card – Charge Insights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F100F2-D447-48A3-8253-27CFEDD44DEB}"/>
              </a:ext>
            </a:extLst>
          </p:cNvPr>
          <p:cNvSpPr txBox="1"/>
          <p:nvPr/>
        </p:nvSpPr>
        <p:spPr>
          <a:xfrm>
            <a:off x="456390" y="4811046"/>
            <a:ext cx="1146628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spcAft>
                <a:spcPts val="600"/>
              </a:spcAft>
            </a:pPr>
            <a:r>
              <a:rPr lang="en-GB" dirty="0">
                <a:solidFill>
                  <a:srgbClr val="002D72"/>
                </a:solidFill>
              </a:rPr>
              <a:t>From the graph above, we could gather:</a:t>
            </a:r>
          </a:p>
          <a:p>
            <a:pPr marL="2857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002D72"/>
                </a:solidFill>
              </a:rPr>
              <a:t>Annual Charge</a:t>
            </a:r>
            <a:r>
              <a:rPr lang="en-GB" dirty="0">
                <a:solidFill>
                  <a:srgbClr val="002D72"/>
                </a:solidFill>
              </a:rPr>
              <a:t> –</a:t>
            </a:r>
            <a:r>
              <a:rPr lang="en-IN" dirty="0">
                <a:solidFill>
                  <a:srgbClr val="002D72"/>
                </a:solidFill>
              </a:rPr>
              <a:t> $1200 which is in the middle of the charges by competitors. </a:t>
            </a:r>
          </a:p>
          <a:p>
            <a:pPr marL="2857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002D72"/>
                </a:solidFill>
              </a:rPr>
              <a:t>Transaction Value Charge (%)</a:t>
            </a:r>
            <a:r>
              <a:rPr lang="en-GB" dirty="0">
                <a:solidFill>
                  <a:srgbClr val="002D72"/>
                </a:solidFill>
              </a:rPr>
              <a:t> – </a:t>
            </a:r>
            <a:r>
              <a:rPr lang="en-IN" dirty="0">
                <a:solidFill>
                  <a:srgbClr val="002D72"/>
                </a:solidFill>
              </a:rPr>
              <a:t>0.5% of the transaction value in domestic transaction and 5% of transaction value in overseas transaction. </a:t>
            </a:r>
            <a:r>
              <a:rPr lang="en-IN">
                <a:solidFill>
                  <a:srgbClr val="002D72"/>
                </a:solidFill>
              </a:rPr>
              <a:t>Both domestic and overseas transaction charges can be increased along with a minimum cash withdrawal fee 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19E8DAD5-370D-0DED-3904-16800842CC4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69883237"/>
              </p:ext>
            </p:extLst>
          </p:nvPr>
        </p:nvGraphicFramePr>
        <p:xfrm>
          <a:off x="1161525" y="1332659"/>
          <a:ext cx="9365456" cy="33004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755344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D76CC-432B-3544-A841-51CE64827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Yoyo Card – Charge Insights (cont.)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F100F2-D447-48A3-8253-27CFEDD44DEB}"/>
              </a:ext>
            </a:extLst>
          </p:cNvPr>
          <p:cNvSpPr txBox="1"/>
          <p:nvPr/>
        </p:nvSpPr>
        <p:spPr>
          <a:xfrm>
            <a:off x="573993" y="4871179"/>
            <a:ext cx="11466288" cy="1431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spcAft>
                <a:spcPts val="600"/>
              </a:spcAft>
            </a:pPr>
            <a:r>
              <a:rPr lang="en-GB" dirty="0">
                <a:solidFill>
                  <a:srgbClr val="002D72"/>
                </a:solidFill>
              </a:rPr>
              <a:t>From the graph above, we could gather:</a:t>
            </a:r>
          </a:p>
          <a:p>
            <a:pPr marL="2857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002D72"/>
                </a:solidFill>
              </a:rPr>
              <a:t>Fixed fee per transaction </a:t>
            </a:r>
            <a:r>
              <a:rPr lang="en-GB" dirty="0">
                <a:solidFill>
                  <a:srgbClr val="002D72"/>
                </a:solidFill>
              </a:rPr>
              <a:t>– </a:t>
            </a:r>
            <a:r>
              <a:rPr lang="en-IN" dirty="0">
                <a:solidFill>
                  <a:srgbClr val="002D72"/>
                </a:solidFill>
              </a:rPr>
              <a:t> Fixes fee per transaction is good in market.</a:t>
            </a:r>
            <a:endParaRPr lang="en-GB" dirty="0">
              <a:solidFill>
                <a:srgbClr val="002D72"/>
              </a:solidFill>
            </a:endParaRPr>
          </a:p>
          <a:p>
            <a:pPr marL="2857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002D72"/>
                </a:solidFill>
              </a:rPr>
              <a:t>Cash withdrawal fees </a:t>
            </a:r>
            <a:r>
              <a:rPr lang="en-GB" dirty="0">
                <a:solidFill>
                  <a:srgbClr val="002D72"/>
                </a:solidFill>
              </a:rPr>
              <a:t>–</a:t>
            </a:r>
            <a:r>
              <a:rPr lang="en-IN" dirty="0">
                <a:solidFill>
                  <a:srgbClr val="002D72"/>
                </a:solidFill>
              </a:rPr>
              <a:t> cash withdrawal fees needs to be added to increase revenue. </a:t>
            </a:r>
            <a:endParaRPr lang="en-GB" dirty="0">
              <a:solidFill>
                <a:srgbClr val="002D72"/>
              </a:solidFill>
            </a:endParaRPr>
          </a:p>
          <a:p>
            <a:pPr marL="2857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D72"/>
                </a:solidFill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EB4D29-D0F0-78C0-C550-86CD49C60F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103" y="1409986"/>
            <a:ext cx="4280626" cy="267539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468B330-9A25-4F06-A733-4C517221B8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8400" y="1409986"/>
            <a:ext cx="3040744" cy="26753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EAD22AB-B950-F277-E0D1-B7D83F1899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409986"/>
            <a:ext cx="4523000" cy="2675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84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>
          <a:defRPr sz="1000"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71099</TotalTime>
  <Words>333</Words>
  <Application>Microsoft Office PowerPoint</Application>
  <PresentationFormat>Widescreen</PresentationFormat>
  <Paragraphs>39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Amplitude Light</vt:lpstr>
      <vt:lpstr>Arial</vt:lpstr>
      <vt:lpstr>Calibri</vt:lpstr>
      <vt:lpstr>Office Theme</vt:lpstr>
      <vt:lpstr>PowerPoint Presentation</vt:lpstr>
      <vt:lpstr>Yoyo Card – Corporate Transaction Insights</vt:lpstr>
      <vt:lpstr>Yoyo Card – Spending Insights</vt:lpstr>
      <vt:lpstr>Yoyo Card – Charge Insights</vt:lpstr>
      <vt:lpstr>Yoyo Card – Charge Insights (cont.)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Kuntal Jain</dc:creator>
  <cp:lastModifiedBy>Kuntal Jain</cp:lastModifiedBy>
  <cp:revision>8</cp:revision>
  <cp:lastPrinted>2017-10-03T14:47:21Z</cp:lastPrinted>
  <dcterms:created xsi:type="dcterms:W3CDTF">2015-07-20T16:22:45Z</dcterms:created>
  <dcterms:modified xsi:type="dcterms:W3CDTF">2026-03-14T08:14:00Z</dcterms:modified>
</cp:coreProperties>
</file>