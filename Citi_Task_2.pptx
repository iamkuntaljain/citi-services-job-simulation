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222" r:id="rId2"/>
    <p:sldId id="1226" r:id="rId3"/>
    <p:sldId id="1227" r:id="rId4"/>
    <p:sldId id="1228" r:id="rId5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orient="horz" pos="4198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  <p15:guide id="4" orient="horz" pos="3668" userDrawn="1">
          <p15:clr>
            <a:srgbClr val="A4A3A4"/>
          </p15:clr>
        </p15:guide>
        <p15:guide id="5" orient="horz" pos="527" userDrawn="1">
          <p15:clr>
            <a:srgbClr val="A4A3A4"/>
          </p15:clr>
        </p15:guide>
        <p15:guide id="6" pos="7483" userDrawn="1">
          <p15:clr>
            <a:srgbClr val="A4A3A4"/>
          </p15:clr>
        </p15:guide>
        <p15:guide id="7" pos="180" userDrawn="1">
          <p15:clr>
            <a:srgbClr val="A4A3A4"/>
          </p15:clr>
        </p15:guide>
        <p15:guide id="8" pos="2819" userDrawn="1">
          <p15:clr>
            <a:srgbClr val="A4A3A4"/>
          </p15:clr>
        </p15:guide>
        <p15:guide id="9" pos="1935" userDrawn="1">
          <p15:clr>
            <a:srgbClr val="A4A3A4"/>
          </p15:clr>
        </p15:guide>
        <p15:guide id="10" orient="horz" pos="1003" userDrawn="1">
          <p15:clr>
            <a:srgbClr val="A4A3A4"/>
          </p15:clr>
        </p15:guide>
        <p15:guide id="11" orient="horz" pos="3770" userDrawn="1">
          <p15:clr>
            <a:srgbClr val="A4A3A4"/>
          </p15:clr>
        </p15:guide>
        <p15:guide id="12" orient="horz" pos="3374" userDrawn="1">
          <p15:clr>
            <a:srgbClr val="A4A3A4"/>
          </p15:clr>
        </p15:guide>
        <p15:guide id="13" orient="horz" pos="13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72"/>
    <a:srgbClr val="DA0011"/>
    <a:srgbClr val="E56266"/>
    <a:srgbClr val="890707"/>
    <a:srgbClr val="A3A3A3"/>
    <a:srgbClr val="73B2CB"/>
    <a:srgbClr val="656565"/>
    <a:srgbClr val="858B39"/>
    <a:srgbClr val="18668D"/>
    <a:srgbClr val="9F9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40" autoAdjust="0"/>
    <p:restoredTop sz="95872" autoAdjust="0"/>
  </p:normalViewPr>
  <p:slideViewPr>
    <p:cSldViewPr snapToGrid="0" showGuides="1">
      <p:cViewPr varScale="1">
        <p:scale>
          <a:sx n="85" d="100"/>
          <a:sy n="85" d="100"/>
        </p:scale>
        <p:origin x="922" y="62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3954" y="84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85" y="12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/>
          <a:lstStyle>
            <a:lvl1pPr algn="r">
              <a:defRPr sz="1200"/>
            </a:lvl1pPr>
          </a:lstStyle>
          <a:p>
            <a:fld id="{FB3CDEB3-48A8-41CE-A19B-17EB5D1349C3}" type="datetimeFigureOut">
              <a:rPr lang="en-GB" smtClean="0"/>
              <a:t>14/03/2026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85" y="9721506"/>
            <a:ext cx="3076364" cy="511485"/>
          </a:xfrm>
          <a:prstGeom prst="rect">
            <a:avLst/>
          </a:prstGeom>
        </p:spPr>
        <p:txBody>
          <a:bodyPr vert="horz" lIns="91323" tIns="45666" rIns="91323" bIns="45666" rtlCol="0" anchor="b"/>
          <a:lstStyle>
            <a:lvl1pPr algn="r">
              <a:defRPr sz="1200"/>
            </a:lvl1pPr>
          </a:lstStyle>
          <a:p>
            <a:fld id="{5D4041B7-2520-49D1-B87B-6BD2905A48B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05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6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305" y="4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/>
          <a:lstStyle>
            <a:lvl1pPr algn="r">
              <a:defRPr sz="1300"/>
            </a:lvl1pPr>
          </a:lstStyle>
          <a:p>
            <a:fld id="{780701A6-ECA0-419F-B53B-F80675AFC4D8}" type="datetimeFigureOut">
              <a:rPr lang="en-GB" smtClean="0"/>
              <a:pPr/>
              <a:t>14/03/2026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85" tIns="48191" rIns="96385" bIns="48191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6385" tIns="48191" rIns="96385" bIns="4819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6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</p:spPr>
        <p:txBody>
          <a:bodyPr vert="horz" lIns="96385" tIns="48191" rIns="96385" bIns="48191" rtlCol="0" anchor="b"/>
          <a:lstStyle>
            <a:lvl1pPr algn="r">
              <a:defRPr sz="1300"/>
            </a:lvl1pPr>
          </a:lstStyle>
          <a:p>
            <a:fld id="{B88799EA-8ACC-422C-926D-CFAF59BB907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230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4563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00000"/>
            </a:pPr>
            <a:fld id="{5BD0987B-402A-4156-A751-9C8439DDA60C}" type="slidenum">
              <a:rPr lang="en-GB" altLang="en-US" sz="1400" smtClean="0">
                <a:solidFill>
                  <a:srgbClr val="000000"/>
                </a:solidFill>
              </a:rPr>
              <a:pPr>
                <a:buSzPct val="100000"/>
              </a:pPr>
              <a:t>1</a:t>
            </a:fld>
            <a:endParaRPr lang="en-GB" altLang="en-US" sz="1400" dirty="0">
              <a:solidFill>
                <a:srgbClr val="000000"/>
              </a:solidFill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 anchor="b"/>
          <a:lstStyle>
            <a:lvl1pPr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SzPct val="100000"/>
            </a:pPr>
            <a:fld id="{4E6C3CCE-C80A-41F4-8786-DA08ED0AC1E0}" type="slidenum">
              <a:rPr lang="en-GB" altLang="en-US">
                <a:solidFill>
                  <a:srgbClr val="000000"/>
                </a:solidFill>
              </a:rPr>
              <a:pPr algn="r">
                <a:buSzPct val="100000"/>
              </a:pPr>
              <a:t>1</a:t>
            </a:fld>
            <a:endParaRPr lang="en-GB" altLang="en-US" dirty="0">
              <a:solidFill>
                <a:srgbClr val="000000"/>
              </a:solidFill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9300"/>
            <a:ext cx="6623050" cy="3725863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064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0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B91FE-CA53-4067-8F02-DDFD68ADDC96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31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29" name="Pentagon 28"/>
            <p:cNvSpPr/>
            <p:nvPr userDrawn="1"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30" name="Pentagon 6"/>
            <p:cNvSpPr/>
            <p:nvPr userDrawn="1"/>
          </p:nvSpPr>
          <p:spPr>
            <a:xfrm rot="10800000">
              <a:off x="774827" y="1382939"/>
              <a:ext cx="6439450" cy="430678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19436 w 8064578"/>
                <a:gd name="connsiteY2" fmla="*/ 15451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597148 w 8661698"/>
                <a:gd name="connsiteY0" fmla="*/ 21922 h 322490"/>
                <a:gd name="connsiteX1" fmla="*/ 8661698 w 8661698"/>
                <a:gd name="connsiteY1" fmla="*/ 22803 h 322490"/>
                <a:gd name="connsiteX2" fmla="*/ 8516556 w 8661698"/>
                <a:gd name="connsiteY2" fmla="*/ 176435 h 322490"/>
                <a:gd name="connsiteX3" fmla="*/ 8661698 w 8661698"/>
                <a:gd name="connsiteY3" fmla="*/ 322490 h 322490"/>
                <a:gd name="connsiteX4" fmla="*/ 597120 w 8661698"/>
                <a:gd name="connsiteY4" fmla="*/ 320945 h 322490"/>
                <a:gd name="connsiteX5" fmla="*/ 597148 w 8661698"/>
                <a:gd name="connsiteY5" fmla="*/ 21922 h 322490"/>
                <a:gd name="connsiteX0" fmla="*/ 28 w 8064578"/>
                <a:gd name="connsiteY0" fmla="*/ 21922 h 322490"/>
                <a:gd name="connsiteX1" fmla="*/ 8064578 w 8064578"/>
                <a:gd name="connsiteY1" fmla="*/ 22803 h 322490"/>
                <a:gd name="connsiteX2" fmla="*/ 7919436 w 8064578"/>
                <a:gd name="connsiteY2" fmla="*/ 176435 h 322490"/>
                <a:gd name="connsiteX3" fmla="*/ 8064578 w 8064578"/>
                <a:gd name="connsiteY3" fmla="*/ 322490 h 322490"/>
                <a:gd name="connsiteX4" fmla="*/ 0 w 8064578"/>
                <a:gd name="connsiteY4" fmla="*/ 320945 h 322490"/>
                <a:gd name="connsiteX5" fmla="*/ 28 w 8064578"/>
                <a:gd name="connsiteY5" fmla="*/ 21922 h 322490"/>
                <a:gd name="connsiteX0" fmla="*/ 28 w 8064578"/>
                <a:gd name="connsiteY0" fmla="*/ 246 h 300814"/>
                <a:gd name="connsiteX1" fmla="*/ 8064578 w 8064578"/>
                <a:gd name="connsiteY1" fmla="*/ 1127 h 300814"/>
                <a:gd name="connsiteX2" fmla="*/ 7919436 w 8064578"/>
                <a:gd name="connsiteY2" fmla="*/ 154759 h 300814"/>
                <a:gd name="connsiteX3" fmla="*/ 8064578 w 8064578"/>
                <a:gd name="connsiteY3" fmla="*/ 300814 h 300814"/>
                <a:gd name="connsiteX4" fmla="*/ 0 w 8064578"/>
                <a:gd name="connsiteY4" fmla="*/ 299269 h 300814"/>
                <a:gd name="connsiteX5" fmla="*/ 28 w 8064578"/>
                <a:gd name="connsiteY5" fmla="*/ 246 h 300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814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cxnSp>
        <p:nvCxnSpPr>
          <p:cNvPr id="15" name="Straight Connector 14"/>
          <p:cNvCxnSpPr/>
          <p:nvPr userDrawn="1"/>
        </p:nvCxnSpPr>
        <p:spPr>
          <a:xfrm>
            <a:off x="271951" y="3152910"/>
            <a:ext cx="78430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toShape 3"/>
          <p:cNvSpPr>
            <a:spLocks noChangeAspect="1" noChangeArrowheads="1" noTextEdit="1"/>
          </p:cNvSpPr>
          <p:nvPr userDrawn="1"/>
        </p:nvSpPr>
        <p:spPr bwMode="auto"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0" name="Freeform 5"/>
            <p:cNvSpPr>
              <a:spLocks/>
            </p:cNvSpPr>
            <p:nvPr userDrawn="1"/>
          </p:nvSpPr>
          <p:spPr bwMode="auto">
            <a:xfrm>
              <a:off x="-540381" y="5887508"/>
              <a:ext cx="8074126" cy="46038"/>
            </a:xfrm>
            <a:custGeom>
              <a:avLst/>
              <a:gdLst>
                <a:gd name="T0" fmla="*/ 0 w 7638"/>
                <a:gd name="T1" fmla="*/ 0 w 7638"/>
                <a:gd name="T2" fmla="*/ 7638 w 763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7638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88" cap="flat">
              <a:solidFill>
                <a:srgbClr val="63666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6"/>
            <p:cNvSpPr>
              <a:spLocks/>
            </p:cNvSpPr>
            <p:nvPr userDrawn="1"/>
          </p:nvSpPr>
          <p:spPr bwMode="auto">
            <a:xfrm>
              <a:off x="7639574" y="5887827"/>
              <a:ext cx="1277774" cy="45719"/>
            </a:xfrm>
            <a:custGeom>
              <a:avLst/>
              <a:gdLst>
                <a:gd name="T0" fmla="*/ 0 w 1357"/>
                <a:gd name="T1" fmla="*/ 0 w 1357"/>
                <a:gd name="T2" fmla="*/ 1357 w 135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357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88" cap="flat">
              <a:solidFill>
                <a:srgbClr val="002D7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solidFill>
                  <a:srgbClr val="002D72"/>
                </a:solidFill>
              </a:endParaRPr>
            </a:p>
          </p:txBody>
        </p:sp>
      </p:grpSp>
      <p:sp>
        <p:nvSpPr>
          <p:cNvPr id="22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8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20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2pPr>
            <a:lvl3pPr marL="9144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3pPr>
            <a:lvl4pPr marL="13716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 smtClean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4pPr>
            <a:lvl5pPr marL="1828800" indent="0" algn="l" rtl="0" eaLnBrk="1" fontAlgn="auto" hangingPunct="1">
              <a:spcBef>
                <a:spcPts val="0"/>
              </a:spcBef>
              <a:spcAft>
                <a:spcPts val="0"/>
              </a:spcAft>
              <a:buNone/>
              <a:defRPr lang="en-US" sz="3600" kern="1200" spc="-20" dirty="0">
                <a:solidFill>
                  <a:srgbClr val="656565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90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36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3" name="Pentagon 12"/>
            <p:cNvSpPr/>
            <p:nvPr userDrawn="1"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5" name="Pentagon 6"/>
            <p:cNvSpPr/>
            <p:nvPr userDrawn="1"/>
          </p:nvSpPr>
          <p:spPr>
            <a:xfrm rot="10800000">
              <a:off x="781049" y="1382736"/>
              <a:ext cx="8853488" cy="458544"/>
            </a:xfrm>
            <a:custGeom>
              <a:avLst/>
              <a:gdLst>
                <a:gd name="connsiteX0" fmla="*/ 0 w 380595"/>
                <a:gd name="connsiteY0" fmla="*/ 0 h 299687"/>
                <a:gd name="connsiteX1" fmla="*/ 292178 w 380595"/>
                <a:gd name="connsiteY1" fmla="*/ 0 h 299687"/>
                <a:gd name="connsiteX2" fmla="*/ 380595 w 380595"/>
                <a:gd name="connsiteY2" fmla="*/ 149844 h 299687"/>
                <a:gd name="connsiteX3" fmla="*/ 292178 w 380595"/>
                <a:gd name="connsiteY3" fmla="*/ 299687 h 299687"/>
                <a:gd name="connsiteX4" fmla="*/ 0 w 380595"/>
                <a:gd name="connsiteY4" fmla="*/ 299687 h 299687"/>
                <a:gd name="connsiteX5" fmla="*/ 0 w 380595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3161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01194 w 292178"/>
                <a:gd name="connsiteY2" fmla="*/ 132911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77394 w 292178"/>
                <a:gd name="connsiteY2" fmla="*/ 137144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198561 w 292178"/>
                <a:gd name="connsiteY2" fmla="*/ 15407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292178"/>
                <a:gd name="connsiteY0" fmla="*/ 0 h 299687"/>
                <a:gd name="connsiteX1" fmla="*/ 292178 w 292178"/>
                <a:gd name="connsiteY1" fmla="*/ 0 h 299687"/>
                <a:gd name="connsiteX2" fmla="*/ 208086 w 292178"/>
                <a:gd name="connsiteY2" fmla="*/ 147727 h 299687"/>
                <a:gd name="connsiteX3" fmla="*/ 292178 w 292178"/>
                <a:gd name="connsiteY3" fmla="*/ 299687 h 299687"/>
                <a:gd name="connsiteX4" fmla="*/ 0 w 292178"/>
                <a:gd name="connsiteY4" fmla="*/ 299687 h 299687"/>
                <a:gd name="connsiteX5" fmla="*/ 0 w 292178"/>
                <a:gd name="connsiteY5" fmla="*/ 0 h 299687"/>
                <a:gd name="connsiteX0" fmla="*/ 0 w 3530678"/>
                <a:gd name="connsiteY0" fmla="*/ 0 h 302862"/>
                <a:gd name="connsiteX1" fmla="*/ 3530678 w 3530678"/>
                <a:gd name="connsiteY1" fmla="*/ 3175 h 302862"/>
                <a:gd name="connsiteX2" fmla="*/ 3446586 w 3530678"/>
                <a:gd name="connsiteY2" fmla="*/ 150902 h 302862"/>
                <a:gd name="connsiteX3" fmla="*/ 3530678 w 3530678"/>
                <a:gd name="connsiteY3" fmla="*/ 302862 h 302862"/>
                <a:gd name="connsiteX4" fmla="*/ 3238500 w 3530678"/>
                <a:gd name="connsiteY4" fmla="*/ 302862 h 302862"/>
                <a:gd name="connsiteX5" fmla="*/ 0 w 3530678"/>
                <a:gd name="connsiteY5" fmla="*/ 0 h 302862"/>
                <a:gd name="connsiteX0" fmla="*/ 0 w 6950153"/>
                <a:gd name="connsiteY0" fmla="*/ 0 h 299687"/>
                <a:gd name="connsiteX1" fmla="*/ 6950153 w 6950153"/>
                <a:gd name="connsiteY1" fmla="*/ 0 h 299687"/>
                <a:gd name="connsiteX2" fmla="*/ 6866061 w 6950153"/>
                <a:gd name="connsiteY2" fmla="*/ 147727 h 299687"/>
                <a:gd name="connsiteX3" fmla="*/ 6950153 w 6950153"/>
                <a:gd name="connsiteY3" fmla="*/ 299687 h 299687"/>
                <a:gd name="connsiteX4" fmla="*/ 6657975 w 6950153"/>
                <a:gd name="connsiteY4" fmla="*/ 299687 h 299687"/>
                <a:gd name="connsiteX5" fmla="*/ 0 w 6950153"/>
                <a:gd name="connsiteY5" fmla="*/ 0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7769225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4216400 w 8061403"/>
                <a:gd name="connsiteY4" fmla="*/ 299687 h 299687"/>
                <a:gd name="connsiteX5" fmla="*/ 0 w 8061403"/>
                <a:gd name="connsiteY5" fmla="*/ 9525 h 299687"/>
                <a:gd name="connsiteX0" fmla="*/ 0 w 8061403"/>
                <a:gd name="connsiteY0" fmla="*/ 9525 h 299687"/>
                <a:gd name="connsiteX1" fmla="*/ 8061403 w 8061403"/>
                <a:gd name="connsiteY1" fmla="*/ 0 h 299687"/>
                <a:gd name="connsiteX2" fmla="*/ 7977311 w 8061403"/>
                <a:gd name="connsiteY2" fmla="*/ 147727 h 299687"/>
                <a:gd name="connsiteX3" fmla="*/ 8061403 w 8061403"/>
                <a:gd name="connsiteY3" fmla="*/ 299687 h 299687"/>
                <a:gd name="connsiteX4" fmla="*/ 1616075 w 8061403"/>
                <a:gd name="connsiteY4" fmla="*/ 296512 h 299687"/>
                <a:gd name="connsiteX5" fmla="*/ 0 w 8061403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80486 w 8064578"/>
                <a:gd name="connsiteY2" fmla="*/ 147727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20690 w 8064578"/>
                <a:gd name="connsiteY2" fmla="*/ 145701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175 w 8064578"/>
                <a:gd name="connsiteY0" fmla="*/ 9525 h 299687"/>
                <a:gd name="connsiteX1" fmla="*/ 8064578 w 8064578"/>
                <a:gd name="connsiteY1" fmla="*/ 0 h 299687"/>
                <a:gd name="connsiteX2" fmla="*/ 7930132 w 8064578"/>
                <a:gd name="connsiteY2" fmla="*/ 147782 h 299687"/>
                <a:gd name="connsiteX3" fmla="*/ 8064578 w 8064578"/>
                <a:gd name="connsiteY3" fmla="*/ 299687 h 299687"/>
                <a:gd name="connsiteX4" fmla="*/ 0 w 8064578"/>
                <a:gd name="connsiteY4" fmla="*/ 296512 h 299687"/>
                <a:gd name="connsiteX5" fmla="*/ 3175 w 8064578"/>
                <a:gd name="connsiteY5" fmla="*/ 9525 h 299687"/>
                <a:gd name="connsiteX0" fmla="*/ 308 w 8064858"/>
                <a:gd name="connsiteY0" fmla="*/ 1200 h 299687"/>
                <a:gd name="connsiteX1" fmla="*/ 8064858 w 8064858"/>
                <a:gd name="connsiteY1" fmla="*/ 0 h 299687"/>
                <a:gd name="connsiteX2" fmla="*/ 7930412 w 8064858"/>
                <a:gd name="connsiteY2" fmla="*/ 147782 h 299687"/>
                <a:gd name="connsiteX3" fmla="*/ 8064858 w 8064858"/>
                <a:gd name="connsiteY3" fmla="*/ 299687 h 299687"/>
                <a:gd name="connsiteX4" fmla="*/ 280 w 8064858"/>
                <a:gd name="connsiteY4" fmla="*/ 296512 h 299687"/>
                <a:gd name="connsiteX5" fmla="*/ 308 w 8064858"/>
                <a:gd name="connsiteY5" fmla="*/ 1200 h 299687"/>
                <a:gd name="connsiteX0" fmla="*/ 308 w 8064858"/>
                <a:gd name="connsiteY0" fmla="*/ 0 h 300568"/>
                <a:gd name="connsiteX1" fmla="*/ 8064858 w 8064858"/>
                <a:gd name="connsiteY1" fmla="*/ 881 h 300568"/>
                <a:gd name="connsiteX2" fmla="*/ 7930412 w 8064858"/>
                <a:gd name="connsiteY2" fmla="*/ 148663 h 300568"/>
                <a:gd name="connsiteX3" fmla="*/ 8064858 w 8064858"/>
                <a:gd name="connsiteY3" fmla="*/ 300568 h 300568"/>
                <a:gd name="connsiteX4" fmla="*/ 280 w 8064858"/>
                <a:gd name="connsiteY4" fmla="*/ 297393 h 300568"/>
                <a:gd name="connsiteX5" fmla="*/ 308 w 806485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30132 w 8064578"/>
                <a:gd name="connsiteY2" fmla="*/ 148663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  <a:gd name="connsiteX0" fmla="*/ 28 w 8064578"/>
                <a:gd name="connsiteY0" fmla="*/ 0 h 300568"/>
                <a:gd name="connsiteX1" fmla="*/ 8064578 w 8064578"/>
                <a:gd name="connsiteY1" fmla="*/ 881 h 300568"/>
                <a:gd name="connsiteX2" fmla="*/ 7941669 w 8064578"/>
                <a:gd name="connsiteY2" fmla="*/ 150744 h 300568"/>
                <a:gd name="connsiteX3" fmla="*/ 8064578 w 8064578"/>
                <a:gd name="connsiteY3" fmla="*/ 300568 h 300568"/>
                <a:gd name="connsiteX4" fmla="*/ 0 w 8064578"/>
                <a:gd name="connsiteY4" fmla="*/ 297393 h 300568"/>
                <a:gd name="connsiteX5" fmla="*/ 28 w 8064578"/>
                <a:gd name="connsiteY5" fmla="*/ 0 h 300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4578" h="300568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78307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796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18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1pPr>
      <a:lvl2pPr marL="180975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2pPr>
      <a:lvl3pPr marL="355600" indent="-17462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3pPr>
      <a:lvl4pPr marL="539750" indent="-1841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4pPr>
      <a:lvl5pPr marL="719138" indent="-180975" algn="l" defTabSz="914400" rtl="0" eaLnBrk="1" latinLnBrk="0" hangingPunct="1">
        <a:spcBef>
          <a:spcPct val="20000"/>
        </a:spcBef>
        <a:buFont typeface="Arial" panose="020B0604020202020204" pitchFamily="34" charset="0"/>
        <a:buChar char="‒"/>
        <a:defRPr sz="800" kern="1200">
          <a:solidFill>
            <a:schemeClr val="tx1"/>
          </a:solidFill>
          <a:latin typeface="Amplitude Light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15700" y="3311708"/>
            <a:ext cx="11560600" cy="1538883"/>
          </a:xfrm>
        </p:spPr>
        <p:txBody>
          <a:bodyPr/>
          <a:lstStyle/>
          <a:p>
            <a:r>
              <a:rPr lang="en-IN" sz="2800" b="1" kern="0" dirty="0">
                <a:solidFill>
                  <a:srgbClr val="002D72"/>
                </a:solidFill>
                <a:latin typeface="Arial" panose="020B0604020202020204" pitchFamily="34" charset="0"/>
              </a:rPr>
              <a:t>Citi Business Expense </a:t>
            </a:r>
            <a:r>
              <a:rPr lang="en-US" sz="2800" b="1" kern="0" dirty="0">
                <a:solidFill>
                  <a:srgbClr val="002D72"/>
                </a:solidFill>
                <a:latin typeface="Arial" panose="020B0604020202020204" pitchFamily="34" charset="0"/>
              </a:rPr>
              <a:t>Card</a:t>
            </a:r>
          </a:p>
          <a:p>
            <a:r>
              <a:rPr lang="en-GB" kern="0" dirty="0">
                <a:solidFill>
                  <a:srgbClr val="002D72"/>
                </a:solidFill>
                <a:latin typeface="Arial" panose="020B0604020202020204" pitchFamily="34" charset="0"/>
              </a:rPr>
              <a:t>Treasury and Trade Solutions</a:t>
            </a:r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endParaRPr lang="en-GB" sz="18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pPr algn="r"/>
            <a:r>
              <a:rPr lang="en-US" sz="1400" kern="0" dirty="0">
                <a:solidFill>
                  <a:srgbClr val="002D72"/>
                </a:solidFill>
                <a:latin typeface="Arial" panose="020B0604020202020204" pitchFamily="34" charset="0"/>
              </a:rPr>
              <a:t>February 6, 202</a:t>
            </a:r>
            <a:r>
              <a:rPr lang="en-IN" sz="1400" kern="0" dirty="0">
                <a:solidFill>
                  <a:srgbClr val="002D72"/>
                </a:solidFill>
                <a:latin typeface="Arial" panose="020B0604020202020204" pitchFamily="34" charset="0"/>
              </a:rPr>
              <a:t>6</a:t>
            </a:r>
            <a:endParaRPr lang="en-US" sz="1400" kern="0" dirty="0">
              <a:solidFill>
                <a:srgbClr val="002D72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20D7A-9DAB-5332-F1CF-C251D38E8E16}"/>
              </a:ext>
            </a:extLst>
          </p:cNvPr>
          <p:cNvSpPr txBox="1"/>
          <p:nvPr/>
        </p:nvSpPr>
        <p:spPr>
          <a:xfrm>
            <a:off x="403412" y="1281953"/>
            <a:ext cx="1154748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Aft>
                <a:spcPts val="600"/>
              </a:spcAft>
            </a:pPr>
            <a:r>
              <a:rPr lang="en-GB" sz="2000" b="1" dirty="0">
                <a:solidFill>
                  <a:srgbClr val="002D72"/>
                </a:solidFill>
              </a:rPr>
              <a:t>Product Design</a:t>
            </a:r>
          </a:p>
          <a:p>
            <a:pPr marL="342900" lvl="1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002D72"/>
                </a:solidFill>
              </a:rPr>
              <a:t>Product Offering </a:t>
            </a:r>
            <a:r>
              <a:rPr lang="en-GB" dirty="0">
                <a:solidFill>
                  <a:srgbClr val="002D72"/>
                </a:solidFill>
              </a:rPr>
              <a:t>–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Centralised commercial expense card replacing cash-based ad-hoc payments and manual/cheque reimbursements.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Integrated with Citi’s reporting and transaction monitoring platform that enables controlled spendings for regional managers.</a:t>
            </a:r>
          </a:p>
          <a:p>
            <a:pPr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002D72"/>
                </a:solidFill>
              </a:rPr>
              <a:t>Who it’s Best For </a:t>
            </a:r>
            <a:r>
              <a:rPr lang="en-GB" dirty="0">
                <a:solidFill>
                  <a:srgbClr val="002D72"/>
                </a:solidFill>
              </a:rPr>
              <a:t>–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Medium to large scale companies that operate through decentralised stores and retail chains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Clients seeking stronger spend control by their subordinates.</a:t>
            </a:r>
          </a:p>
          <a:p>
            <a:pPr marL="342900" lvl="1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002D72"/>
                </a:solidFill>
              </a:rPr>
              <a:t>Smart Card </a:t>
            </a:r>
            <a:r>
              <a:rPr lang="en-GB" dirty="0">
                <a:solidFill>
                  <a:srgbClr val="002D72"/>
                </a:solidFill>
              </a:rPr>
              <a:t>–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Real-time transactions, built-in spending limit and merchant category controls. Digital receipt generation and data storage in Citi’s merchant platform</a:t>
            </a:r>
          </a:p>
          <a:p>
            <a:pPr marL="342900" lvl="1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002D72"/>
                </a:solidFill>
              </a:rPr>
              <a:t>Currency </a:t>
            </a:r>
            <a:r>
              <a:rPr lang="en-GB" dirty="0">
                <a:solidFill>
                  <a:srgbClr val="002D72"/>
                </a:solidFill>
              </a:rPr>
              <a:t>–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Currently in USD with multi-currency capability in future</a:t>
            </a:r>
          </a:p>
        </p:txBody>
      </p:sp>
    </p:spTree>
    <p:extLst>
      <p:ext uri="{BB962C8B-B14F-4D97-AF65-F5344CB8AC3E}">
        <p14:creationId xmlns:p14="http://schemas.microsoft.com/office/powerpoint/2010/main" val="261141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76CC-432B-3544-A841-51CE6482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953" y="555660"/>
            <a:ext cx="5898317" cy="432048"/>
          </a:xfrm>
        </p:spPr>
        <p:txBody>
          <a:bodyPr>
            <a:normAutofit/>
          </a:bodyPr>
          <a:lstStyle/>
          <a:p>
            <a:r>
              <a:rPr lang="en-US" dirty="0"/>
              <a:t>Citi Business Expense Card - Salient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56016-9032-0181-B801-17E9391FE8BC}"/>
              </a:ext>
            </a:extLst>
          </p:cNvPr>
          <p:cNvSpPr txBox="1"/>
          <p:nvPr/>
        </p:nvSpPr>
        <p:spPr>
          <a:xfrm>
            <a:off x="570585" y="1408061"/>
            <a:ext cx="11308677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Reporting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Real-time expense or traction reporting at store, region and enterprise level to assure no misuse.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Centralised dashboard for head office to keep track of transaction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Controls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Pre-defined spending limit by role and region. 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Businesses can put restrictions on spending limit.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Instant alert to the head office and cardholder in case of suspicious activity or potential fraud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Accessibility</a:t>
            </a:r>
            <a:endParaRPr lang="en-GB" dirty="0">
              <a:solidFill>
                <a:srgbClr val="002D72"/>
              </a:solidFill>
            </a:endParaRPr>
          </a:p>
          <a:p>
            <a:pPr marL="457200" lvl="2">
              <a:spcAft>
                <a:spcPts val="600"/>
              </a:spcAft>
            </a:pPr>
            <a:r>
              <a:rPr lang="en-GB" dirty="0">
                <a:solidFill>
                  <a:srgbClr val="002D72"/>
                </a:solidFill>
              </a:rPr>
              <a:t>Can be accessed through:</a:t>
            </a:r>
          </a:p>
          <a:p>
            <a:pPr marL="1257300" lvl="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Citi online banking platform </a:t>
            </a:r>
          </a:p>
          <a:p>
            <a:pPr marL="1257300" lvl="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Mobile application for cardholders and management </a:t>
            </a:r>
          </a:p>
          <a:p>
            <a:pPr marL="1257300" lvl="3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Web based expense management dashboards</a:t>
            </a:r>
          </a:p>
        </p:txBody>
      </p:sp>
    </p:spTree>
    <p:extLst>
      <p:ext uri="{BB962C8B-B14F-4D97-AF65-F5344CB8AC3E}">
        <p14:creationId xmlns:p14="http://schemas.microsoft.com/office/powerpoint/2010/main" val="197471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E35683-0E9E-4C2E-6923-8F852C12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954" y="555660"/>
            <a:ext cx="6301728" cy="432048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Citi Business Expense Card– Salient features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C6250-B49E-8897-FEFF-2E5BE89E7B23}"/>
              </a:ext>
            </a:extLst>
          </p:cNvPr>
          <p:cNvSpPr txBox="1"/>
          <p:nvPr/>
        </p:nvSpPr>
        <p:spPr>
          <a:xfrm>
            <a:off x="570585" y="1408061"/>
            <a:ext cx="1130867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Charges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Annual card fee: $20 per card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Domestic transaction fee: 0.5% per transaction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International transaction fee : 1.3% per transaction 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No cash withdrawal facility to ensure no misuse. 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Target Customers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Businesses with decentralised stores. (Franchise business and retail stores)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Medium to large commercial groups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Companies or businesses with frequent ad-hoc expenses and distributed workforce</a:t>
            </a:r>
          </a:p>
          <a:p>
            <a:pPr marL="3429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D72"/>
                </a:solidFill>
              </a:rPr>
              <a:t>Promotions</a:t>
            </a:r>
            <a:endParaRPr lang="en-GB" dirty="0">
              <a:solidFill>
                <a:srgbClr val="002D72"/>
              </a:solidFill>
            </a:endParaRP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Annual fee waved off for 12 months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Reduced fee during launch period.</a:t>
            </a:r>
          </a:p>
          <a:p>
            <a:pPr marL="8001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D72"/>
                </a:solidFill>
              </a:rPr>
              <a:t>Free access to reporting tools for first 6 months</a:t>
            </a:r>
          </a:p>
        </p:txBody>
      </p:sp>
    </p:spTree>
    <p:extLst>
      <p:ext uri="{BB962C8B-B14F-4D97-AF65-F5344CB8AC3E}">
        <p14:creationId xmlns:p14="http://schemas.microsoft.com/office/powerpoint/2010/main" val="161408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0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70977</TotalTime>
  <Words>299</Words>
  <Application>Microsoft Office PowerPoint</Application>
  <PresentationFormat>Widescreen</PresentationFormat>
  <Paragraphs>47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Amplitude Light</vt:lpstr>
      <vt:lpstr>Arial</vt:lpstr>
      <vt:lpstr>Calibri</vt:lpstr>
      <vt:lpstr>Wingdings</vt:lpstr>
      <vt:lpstr>Office Theme</vt:lpstr>
      <vt:lpstr>PowerPoint Presentation</vt:lpstr>
      <vt:lpstr>Introduction</vt:lpstr>
      <vt:lpstr>Citi Business Expense Card - Salient features</vt:lpstr>
      <vt:lpstr>Citi Business Expense Card– Salient features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r̥āṁ</dc:creator>
  <cp:lastModifiedBy>Kuntal Jain</cp:lastModifiedBy>
  <cp:revision>8</cp:revision>
  <cp:lastPrinted>2017-10-03T14:47:21Z</cp:lastPrinted>
  <dcterms:created xsi:type="dcterms:W3CDTF">2015-07-20T16:22:45Z</dcterms:created>
  <dcterms:modified xsi:type="dcterms:W3CDTF">2026-03-14T06:20:38Z</dcterms:modified>
</cp:coreProperties>
</file>